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7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9"/>
          <c:y val="0.04"/>
          <c:w val="0.82"/>
          <c:h val="0.82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夏</c:v>
                </c:pt>
              </c:strCache>
            </c:strRef>
          </c:tx>
          <c:spPr>
            <a:solidFill>
              <a:srgbClr val="1F4E79"/>
            </a:solidFill>
            <a:ln w="25400" cap="flat">
              <a:solidFill>
                <a:srgbClr val="1F4E7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F4E79"/>
              </a:solidFill>
              <a:ln w="9525" cap="flat">
                <a:solidFill>
                  <a:srgbClr val="1F4E7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38.15</c:v>
                </c:pt>
                <c:pt idx="1">
                  <c:v>37.75</c:v>
                </c:pt>
                <c:pt idx="2">
                  <c:v>37.29</c:v>
                </c:pt>
                <c:pt idx="3">
                  <c:v>36.87</c:v>
                </c:pt>
                <c:pt idx="4">
                  <c:v>36.41</c:v>
                </c:pt>
                <c:pt idx="5">
                  <c:v>35.99</c:v>
                </c:pt>
                <c:pt idx="6">
                  <c:v>35.71</c:v>
                </c:pt>
                <c:pt idx="7">
                  <c:v>35.8</c:v>
                </c:pt>
                <c:pt idx="8">
                  <c:v>36.72</c:v>
                </c:pt>
                <c:pt idx="9">
                  <c:v>38.19</c:v>
                </c:pt>
                <c:pt idx="10">
                  <c:v>39.85</c:v>
                </c:pt>
                <c:pt idx="11">
                  <c:v>41.9</c:v>
                </c:pt>
                <c:pt idx="12">
                  <c:v>43.16</c:v>
                </c:pt>
                <c:pt idx="13">
                  <c:v>43.98</c:v>
                </c:pt>
                <c:pt idx="14">
                  <c:v>44.94</c:v>
                </c:pt>
                <c:pt idx="15">
                  <c:v>45.28</c:v>
                </c:pt>
                <c:pt idx="16">
                  <c:v>44.71</c:v>
                </c:pt>
                <c:pt idx="17">
                  <c:v>43.63</c:v>
                </c:pt>
                <c:pt idx="18">
                  <c:v>42.63</c:v>
                </c:pt>
                <c:pt idx="19">
                  <c:v>41.55</c:v>
                </c:pt>
                <c:pt idx="20">
                  <c:v>40.47</c:v>
                </c:pt>
                <c:pt idx="21">
                  <c:v>39.67</c:v>
                </c:pt>
                <c:pt idx="22">
                  <c:v>39.01</c:v>
                </c:pt>
                <c:pt idx="23">
                  <c:v>38.57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秋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25.34</c:v>
                </c:pt>
                <c:pt idx="1">
                  <c:v>25</c:v>
                </c:pt>
                <c:pt idx="2">
                  <c:v>24.59</c:v>
                </c:pt>
                <c:pt idx="3">
                  <c:v>24.19</c:v>
                </c:pt>
                <c:pt idx="4">
                  <c:v>23.82</c:v>
                </c:pt>
                <c:pt idx="5">
                  <c:v>23.49</c:v>
                </c:pt>
                <c:pt idx="6">
                  <c:v>23.22</c:v>
                </c:pt>
                <c:pt idx="7">
                  <c:v>23.07</c:v>
                </c:pt>
                <c:pt idx="8">
                  <c:v>23.52</c:v>
                </c:pt>
                <c:pt idx="9">
                  <c:v>24.71</c:v>
                </c:pt>
                <c:pt idx="10">
                  <c:v>26.39</c:v>
                </c:pt>
                <c:pt idx="11">
                  <c:v>28.04</c:v>
                </c:pt>
                <c:pt idx="12">
                  <c:v>29.31</c:v>
                </c:pt>
                <c:pt idx="13">
                  <c:v>30.4</c:v>
                </c:pt>
                <c:pt idx="14">
                  <c:v>31.1</c:v>
                </c:pt>
                <c:pt idx="15">
                  <c:v>31.14</c:v>
                </c:pt>
                <c:pt idx="16">
                  <c:v>30.53</c:v>
                </c:pt>
                <c:pt idx="17">
                  <c:v>29.62</c:v>
                </c:pt>
                <c:pt idx="18">
                  <c:v>28.58</c:v>
                </c:pt>
                <c:pt idx="19">
                  <c:v>27.63</c:v>
                </c:pt>
                <c:pt idx="20">
                  <c:v>26.89</c:v>
                </c:pt>
                <c:pt idx="21">
                  <c:v>26.3</c:v>
                </c:pt>
                <c:pt idx="22">
                  <c:v>25.82</c:v>
                </c:pt>
                <c:pt idx="23">
                  <c:v>25.49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春</c:v>
                </c:pt>
              </c:strCache>
            </c:strRef>
          </c:tx>
          <c:spPr>
            <a:solidFill>
              <a:srgbClr val="1F4E79"/>
            </a:solidFill>
            <a:ln w="25400" cap="flat">
              <a:solidFill>
                <a:srgbClr val="1F4E7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F4E79"/>
              </a:solidFill>
              <a:ln w="9525" cap="flat">
                <a:solidFill>
                  <a:srgbClr val="1F4E7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24.84</c:v>
                </c:pt>
                <c:pt idx="1">
                  <c:v>24.32</c:v>
                </c:pt>
                <c:pt idx="2">
                  <c:v>23.79</c:v>
                </c:pt>
                <c:pt idx="3">
                  <c:v>23.32</c:v>
                </c:pt>
                <c:pt idx="4">
                  <c:v>22.87</c:v>
                </c:pt>
                <c:pt idx="5">
                  <c:v>22.42</c:v>
                </c:pt>
                <c:pt idx="6">
                  <c:v>22.01</c:v>
                </c:pt>
                <c:pt idx="7">
                  <c:v>21.99</c:v>
                </c:pt>
                <c:pt idx="8">
                  <c:v>22.77</c:v>
                </c:pt>
                <c:pt idx="9">
                  <c:v>24.23</c:v>
                </c:pt>
                <c:pt idx="10">
                  <c:v>26.28</c:v>
                </c:pt>
                <c:pt idx="11">
                  <c:v>28.49</c:v>
                </c:pt>
                <c:pt idx="12">
                  <c:v>30.09</c:v>
                </c:pt>
                <c:pt idx="13">
                  <c:v>31.12</c:v>
                </c:pt>
                <c:pt idx="14">
                  <c:v>32.56</c:v>
                </c:pt>
                <c:pt idx="15">
                  <c:v>33.01</c:v>
                </c:pt>
                <c:pt idx="16">
                  <c:v>32.41</c:v>
                </c:pt>
                <c:pt idx="17">
                  <c:v>31.25</c:v>
                </c:pt>
                <c:pt idx="18">
                  <c:v>30.14</c:v>
                </c:pt>
                <c:pt idx="19">
                  <c:v>28.91</c:v>
                </c:pt>
                <c:pt idx="20">
                  <c:v>27.75</c:v>
                </c:pt>
                <c:pt idx="21">
                  <c:v>26.79</c:v>
                </c:pt>
                <c:pt idx="22">
                  <c:v>26.05</c:v>
                </c:pt>
                <c:pt idx="23">
                  <c:v>25.49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冬</c:v>
                </c:pt>
              </c:strCache>
            </c:strRef>
          </c:tx>
          <c:spPr>
            <a:solidFill>
              <a:srgbClr val="1F4E79"/>
            </a:solidFill>
            <a:ln w="25400" cap="flat">
              <a:solidFill>
                <a:srgbClr val="1F4E7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F4E79"/>
              </a:solidFill>
              <a:ln w="9525" cap="flat">
                <a:solidFill>
                  <a:srgbClr val="1F4E7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Sheet1!$E$2:$E$25</c:f>
              <c:numCache>
                <c:formatCode>General</c:formatCode>
                <c:ptCount val="24"/>
                <c:pt idx="0">
                  <c:v>11.98</c:v>
                </c:pt>
                <c:pt idx="1">
                  <c:v>11.57</c:v>
                </c:pt>
                <c:pt idx="2">
                  <c:v>11.15</c:v>
                </c:pt>
                <c:pt idx="3">
                  <c:v>10.71</c:v>
                </c:pt>
                <c:pt idx="4">
                  <c:v>10.28</c:v>
                </c:pt>
                <c:pt idx="5">
                  <c:v>9.89</c:v>
                </c:pt>
                <c:pt idx="6">
                  <c:v>9.55</c:v>
                </c:pt>
                <c:pt idx="7">
                  <c:v>9.28</c:v>
                </c:pt>
                <c:pt idx="8">
                  <c:v>9.2</c:v>
                </c:pt>
                <c:pt idx="9">
                  <c:v>10.24</c:v>
                </c:pt>
                <c:pt idx="10">
                  <c:v>11.99</c:v>
                </c:pt>
                <c:pt idx="11">
                  <c:v>13.97</c:v>
                </c:pt>
                <c:pt idx="12">
                  <c:v>15.77</c:v>
                </c:pt>
                <c:pt idx="13">
                  <c:v>16.87</c:v>
                </c:pt>
                <c:pt idx="14">
                  <c:v>18.03</c:v>
                </c:pt>
                <c:pt idx="15">
                  <c:v>18.16</c:v>
                </c:pt>
                <c:pt idx="16">
                  <c:v>17.71</c:v>
                </c:pt>
                <c:pt idx="17">
                  <c:v>16.69</c:v>
                </c:pt>
                <c:pt idx="18">
                  <c:v>15.57</c:v>
                </c:pt>
                <c:pt idx="19">
                  <c:v>14.62</c:v>
                </c:pt>
                <c:pt idx="20">
                  <c:v>13.85</c:v>
                </c:pt>
                <c:pt idx="21">
                  <c:v>13.23</c:v>
                </c:pt>
                <c:pt idx="22">
                  <c:v>12.73</c:v>
                </c:pt>
                <c:pt idx="23">
                  <c:v>12.36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5"/>
        </c:scaling>
        <c:delete val="0"/>
        <c:axPos val="l"/>
        <c:majorGridlines>
          <c:spPr>
            <a:ln w="9525" cap="flat">
              <a:solidFill>
                <a:srgbClr val="EBEBEB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6E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2"/>
          <c:y val="0.1"/>
          <c:w val="0.96"/>
          <c:h val="0.7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E75B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持続予測</c:v>
                  </c:pt>
                  <c:pt idx="1">
                    <c:v>前日同時刻</c:v>
                  </c:pt>
                  <c:pt idx="2">
                    <c:v>リッジ回帰</c:v>
                  </c:pt>
                  <c:pt idx="3">
                    <c:v>LightGBM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4.44</c:v>
                </c:pt>
                <c:pt idx="1">
                  <c:v>3.21</c:v>
                </c:pt>
                <c:pt idx="2">
                  <c:v>2.37</c:v>
                </c:pt>
                <c:pt idx="3">
                  <c:v>1.95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600" u="none">
                  <a:solidFill>
                    <a:srgbClr val="2626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A3A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7"/>
          <c:y val="0.05"/>
          <c:w val="0.74"/>
          <c:h val="0.82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持続予測</c:v>
                </c:pt>
              </c:strCache>
            </c:strRef>
          </c:tx>
          <c:spPr>
            <a:solidFill>
              <a:srgbClr val="A6A6A6"/>
            </a:solidFill>
            <a:ln w="28575" cap="flat">
              <a:solidFill>
                <a:srgbClr val="A6A6A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A6A6A6"/>
              </a:solidFill>
              <a:ln w="9525" cap="flat">
                <a:solidFill>
                  <a:srgbClr val="A6A6A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11月</c:v>
                  </c:pt>
                  <c:pt idx="1">
                    <c:v>12月</c:v>
                  </c:pt>
                  <c:pt idx="2">
                    <c:v>1月</c:v>
                  </c:pt>
                  <c:pt idx="3">
                    <c:v>2月</c:v>
                  </c:pt>
                  <c:pt idx="4">
                    <c:v>3月</c:v>
                  </c:pt>
                  <c:pt idx="5">
                    <c:v>4月</c:v>
                  </c:pt>
                  <c:pt idx="6">
                    <c:v>5月</c:v>
                  </c:pt>
                  <c:pt idx="7">
                    <c:v>6月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4.29</c:v>
                </c:pt>
                <c:pt idx="1">
                  <c:v>4.518</c:v>
                </c:pt>
                <c:pt idx="2">
                  <c:v>2.949</c:v>
                </c:pt>
                <c:pt idx="3">
                  <c:v>4.443</c:v>
                </c:pt>
                <c:pt idx="4">
                  <c:v>5.007</c:v>
                </c:pt>
                <c:pt idx="5">
                  <c:v>5.393</c:v>
                </c:pt>
                <c:pt idx="6">
                  <c:v>4.006</c:v>
                </c:pt>
                <c:pt idx="7">
                  <c:v>4.997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リッジ回帰</c:v>
                </c:pt>
              </c:strCache>
            </c:strRef>
          </c:tx>
          <c:spPr>
            <a:solidFill>
              <a:srgbClr val="7F7F7F"/>
            </a:solidFill>
            <a:ln w="28575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11月</c:v>
                  </c:pt>
                  <c:pt idx="1">
                    <c:v>12月</c:v>
                  </c:pt>
                  <c:pt idx="2">
                    <c:v>1月</c:v>
                  </c:pt>
                  <c:pt idx="3">
                    <c:v>2月</c:v>
                  </c:pt>
                  <c:pt idx="4">
                    <c:v>3月</c:v>
                  </c:pt>
                  <c:pt idx="5">
                    <c:v>4月</c:v>
                  </c:pt>
                  <c:pt idx="6">
                    <c:v>5月</c:v>
                  </c:pt>
                  <c:pt idx="7">
                    <c:v>6月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2.205</c:v>
                </c:pt>
                <c:pt idx="1">
                  <c:v>2.047</c:v>
                </c:pt>
                <c:pt idx="2">
                  <c:v>2.196</c:v>
                </c:pt>
                <c:pt idx="3">
                  <c:v>2.282</c:v>
                </c:pt>
                <c:pt idx="4">
                  <c:v>2.704</c:v>
                </c:pt>
                <c:pt idx="5">
                  <c:v>2.854</c:v>
                </c:pt>
                <c:pt idx="6">
                  <c:v>2.431</c:v>
                </c:pt>
                <c:pt idx="7">
                  <c:v>2.187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LightGBM</c:v>
                </c:pt>
              </c:strCache>
            </c:strRef>
          </c:tx>
          <c:spPr>
            <a:solidFill>
              <a:srgbClr val="2E75B6"/>
            </a:solidFill>
            <a:ln w="28575" cap="flat">
              <a:solidFill>
                <a:srgbClr val="2E75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75B6"/>
              </a:solidFill>
              <a:ln w="9525" cap="flat">
                <a:solidFill>
                  <a:srgbClr val="2E75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11月</c:v>
                  </c:pt>
                  <c:pt idx="1">
                    <c:v>12月</c:v>
                  </c:pt>
                  <c:pt idx="2">
                    <c:v>1月</c:v>
                  </c:pt>
                  <c:pt idx="3">
                    <c:v>2月</c:v>
                  </c:pt>
                  <c:pt idx="4">
                    <c:v>3月</c:v>
                  </c:pt>
                  <c:pt idx="5">
                    <c:v>4月</c:v>
                  </c:pt>
                  <c:pt idx="6">
                    <c:v>5月</c:v>
                  </c:pt>
                  <c:pt idx="7">
                    <c:v>6月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1.71</c:v>
                </c:pt>
                <c:pt idx="1">
                  <c:v>1.74</c:v>
                </c:pt>
                <c:pt idx="2">
                  <c:v>2.127</c:v>
                </c:pt>
                <c:pt idx="3">
                  <c:v>1.914</c:v>
                </c:pt>
                <c:pt idx="4">
                  <c:v>2.143</c:v>
                </c:pt>
                <c:pt idx="5">
                  <c:v>2.047</c:v>
                </c:pt>
                <c:pt idx="6">
                  <c:v>2.092</c:v>
                </c:pt>
                <c:pt idx="7">
                  <c:v>1.798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0"/>
        <c:axPos val="l"/>
        <c:majorGridlines>
          <c:spPr>
            <a:ln w="9525" cap="flat">
              <a:solidFill>
                <a:srgbClr val="EBEBEB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6E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2"/>
          <c:y val="0.1"/>
          <c:w val="0.96"/>
          <c:h val="0.7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5B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油温の履歴
だけ</c:v>
                  </c:pt>
                  <c:pt idx="1">
                    <c:v>＋時刻・季節</c:v>
                  </c:pt>
                  <c:pt idx="2">
                    <c:v>＋予測時点
までの負荷</c:v>
                  </c:pt>
                  <c:pt idx="3">
                    <c:v>＋予測先の
実測負荷（参考）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2.676</c:v>
                </c:pt>
                <c:pt idx="1">
                  <c:v>1.827</c:v>
                </c:pt>
                <c:pt idx="2">
                  <c:v>1.951</c:v>
                </c:pt>
                <c:pt idx="3">
                  <c:v>1.968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600" u="none">
                  <a:solidFill>
                    <a:srgbClr val="2626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3A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2"/>
          <c:y val="0.1"/>
          <c:w val="0.96"/>
          <c:h val="0.7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E75B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持続予測</c:v>
                  </c:pt>
                  <c:pt idx="1">
                    <c:v>前日同時刻</c:v>
                  </c:pt>
                  <c:pt idx="2">
                    <c:v>リッジ回帰</c:v>
                  </c:pt>
                  <c:pt idx="3">
                    <c:v>LightGBM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6</c:v>
                </c:pt>
                <c:pt idx="2">
                  <c:v>5</c:v>
                </c:pt>
                <c:pt idx="3">
                  <c:v>10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600" u="none">
                  <a:solidFill>
                    <a:srgbClr val="2626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A3A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8"/>
          <c:y val="0.05"/>
          <c:w val="0.7"/>
          <c:h val="0.82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実測</c:v>
                </c:pt>
              </c:strCache>
            </c:strRef>
          </c:tx>
          <c:spPr>
            <a:solidFill>
              <a:srgbClr val="262626"/>
            </a:solidFill>
            <a:ln w="25400" cap="flat">
              <a:solidFill>
                <a:srgbClr val="2626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62626"/>
              </a:solidFill>
              <a:ln w="9525" cap="flat">
                <a:solidFill>
                  <a:srgbClr val="2626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39.3</c:v>
                </c:pt>
                <c:pt idx="1">
                  <c:v>38.9</c:v>
                </c:pt>
                <c:pt idx="2">
                  <c:v>38.2</c:v>
                </c:pt>
                <c:pt idx="3">
                  <c:v>37.3</c:v>
                </c:pt>
                <c:pt idx="4">
                  <c:v>36.9</c:v>
                </c:pt>
                <c:pt idx="5">
                  <c:v>36.4</c:v>
                </c:pt>
                <c:pt idx="6">
                  <c:v>36.2</c:v>
                </c:pt>
                <c:pt idx="7">
                  <c:v>36.4</c:v>
                </c:pt>
                <c:pt idx="8">
                  <c:v>38</c:v>
                </c:pt>
                <c:pt idx="9">
                  <c:v>40.4</c:v>
                </c:pt>
                <c:pt idx="10">
                  <c:v>42.8</c:v>
                </c:pt>
                <c:pt idx="11">
                  <c:v>46.1</c:v>
                </c:pt>
                <c:pt idx="12">
                  <c:v>47.2</c:v>
                </c:pt>
                <c:pt idx="13">
                  <c:v>47.2</c:v>
                </c:pt>
                <c:pt idx="14">
                  <c:v>47.9</c:v>
                </c:pt>
                <c:pt idx="15">
                  <c:v>48.3</c:v>
                </c:pt>
                <c:pt idx="16">
                  <c:v>48.1</c:v>
                </c:pt>
                <c:pt idx="17">
                  <c:v>47.6</c:v>
                </c:pt>
                <c:pt idx="18">
                  <c:v>46.5</c:v>
                </c:pt>
                <c:pt idx="19">
                  <c:v>45.4</c:v>
                </c:pt>
                <c:pt idx="20">
                  <c:v>44.1</c:v>
                </c:pt>
                <c:pt idx="21">
                  <c:v>43</c:v>
                </c:pt>
                <c:pt idx="22">
                  <c:v>42.4</c:v>
                </c:pt>
                <c:pt idx="23">
                  <c:v>41.9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6時間前の予測</c:v>
                </c:pt>
              </c:strCache>
            </c:strRef>
          </c:tx>
          <c:spPr>
            <a:solidFill>
              <a:srgbClr val="2E75B6"/>
            </a:solidFill>
            <a:ln w="25400" cap="flat">
              <a:solidFill>
                <a:srgbClr val="2E75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75B6"/>
              </a:solidFill>
              <a:ln w="9525" cap="flat">
                <a:solidFill>
                  <a:srgbClr val="2E75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37.6</c:v>
                </c:pt>
                <c:pt idx="1">
                  <c:v>37.8</c:v>
                </c:pt>
                <c:pt idx="2">
                  <c:v>36.5</c:v>
                </c:pt>
                <c:pt idx="3">
                  <c:v>36.3</c:v>
                </c:pt>
                <c:pt idx="4">
                  <c:v>35.9</c:v>
                </c:pt>
                <c:pt idx="5">
                  <c:v>35.7</c:v>
                </c:pt>
                <c:pt idx="6">
                  <c:v>35.6</c:v>
                </c:pt>
                <c:pt idx="7">
                  <c:v>35.7</c:v>
                </c:pt>
                <c:pt idx="8">
                  <c:v>36.4</c:v>
                </c:pt>
                <c:pt idx="9">
                  <c:v>36.8</c:v>
                </c:pt>
                <c:pt idx="10">
                  <c:v>38.8</c:v>
                </c:pt>
                <c:pt idx="11">
                  <c:v>40.8</c:v>
                </c:pt>
                <c:pt idx="12">
                  <c:v>41.5</c:v>
                </c:pt>
                <c:pt idx="13">
                  <c:v>41.5</c:v>
                </c:pt>
                <c:pt idx="14">
                  <c:v>46</c:v>
                </c:pt>
                <c:pt idx="15">
                  <c:v>48.5</c:v>
                </c:pt>
                <c:pt idx="16">
                  <c:v>48.3</c:v>
                </c:pt>
                <c:pt idx="17">
                  <c:v>47.2</c:v>
                </c:pt>
                <c:pt idx="18">
                  <c:v>45.4</c:v>
                </c:pt>
                <c:pt idx="19">
                  <c:v>43.9</c:v>
                </c:pt>
                <c:pt idx="20">
                  <c:v>42.3</c:v>
                </c:pt>
                <c:pt idx="21">
                  <c:v>41.7</c:v>
                </c:pt>
                <c:pt idx="22">
                  <c:v>42.1</c:v>
                </c:pt>
                <c:pt idx="23">
                  <c:v>41.4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閾値</c:v>
                </c:pt>
              </c:strCache>
            </c:strRef>
          </c:tx>
          <c:spPr>
            <a:solidFill>
              <a:srgbClr val="C55A11"/>
            </a:solidFill>
            <a:ln w="25400" cap="flat">
              <a:solidFill>
                <a:srgbClr val="C55A1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55A11"/>
              </a:solidFill>
              <a:ln w="9525" cap="flat">
                <a:solidFill>
                  <a:srgbClr val="C55A1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46.4</c:v>
                </c:pt>
                <c:pt idx="1">
                  <c:v>46.4</c:v>
                </c:pt>
                <c:pt idx="2">
                  <c:v>46.4</c:v>
                </c:pt>
                <c:pt idx="3">
                  <c:v>46.4</c:v>
                </c:pt>
                <c:pt idx="4">
                  <c:v>46.4</c:v>
                </c:pt>
                <c:pt idx="5">
                  <c:v>46.4</c:v>
                </c:pt>
                <c:pt idx="6">
                  <c:v>46.4</c:v>
                </c:pt>
                <c:pt idx="7">
                  <c:v>46.4</c:v>
                </c:pt>
                <c:pt idx="8">
                  <c:v>46.4</c:v>
                </c:pt>
                <c:pt idx="9">
                  <c:v>46.4</c:v>
                </c:pt>
                <c:pt idx="10">
                  <c:v>46.4</c:v>
                </c:pt>
                <c:pt idx="11">
                  <c:v>46.4</c:v>
                </c:pt>
                <c:pt idx="12">
                  <c:v>46.4</c:v>
                </c:pt>
                <c:pt idx="13">
                  <c:v>46.4</c:v>
                </c:pt>
                <c:pt idx="14">
                  <c:v>46.4</c:v>
                </c:pt>
                <c:pt idx="15">
                  <c:v>46.4</c:v>
                </c:pt>
                <c:pt idx="16">
                  <c:v>46.4</c:v>
                </c:pt>
                <c:pt idx="17">
                  <c:v>46.4</c:v>
                </c:pt>
                <c:pt idx="18">
                  <c:v>46.4</c:v>
                </c:pt>
                <c:pt idx="19">
                  <c:v>46.4</c:v>
                </c:pt>
                <c:pt idx="20">
                  <c:v>46.4</c:v>
                </c:pt>
                <c:pt idx="21">
                  <c:v>46.4</c:v>
                </c:pt>
                <c:pt idx="22">
                  <c:v>46.4</c:v>
                </c:pt>
                <c:pt idx="23">
                  <c:v>46.4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30"/>
        </c:scaling>
        <c:delete val="0"/>
        <c:axPos val="l"/>
        <c:majorGridlines>
          <c:spPr>
            <a:ln w="9525" cap="flat">
              <a:solidFill>
                <a:srgbClr val="EBEBEB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6E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8"/>
          <c:y val="0.05"/>
          <c:w val="0.7"/>
          <c:h val="0.82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実測</c:v>
                </c:pt>
              </c:strCache>
            </c:strRef>
          </c:tx>
          <c:spPr>
            <a:solidFill>
              <a:srgbClr val="262626"/>
            </a:solidFill>
            <a:ln w="25400" cap="flat">
              <a:solidFill>
                <a:srgbClr val="2626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62626"/>
              </a:solidFill>
              <a:ln w="9525" cap="flat">
                <a:solidFill>
                  <a:srgbClr val="2626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31.5</c:v>
                </c:pt>
                <c:pt idx="1">
                  <c:v>31.1</c:v>
                </c:pt>
                <c:pt idx="2">
                  <c:v>30.7</c:v>
                </c:pt>
                <c:pt idx="3">
                  <c:v>30.2</c:v>
                </c:pt>
                <c:pt idx="4">
                  <c:v>29.3</c:v>
                </c:pt>
                <c:pt idx="5">
                  <c:v>28.5</c:v>
                </c:pt>
                <c:pt idx="6">
                  <c:v>28</c:v>
                </c:pt>
                <c:pt idx="7">
                  <c:v>28.5</c:v>
                </c:pt>
                <c:pt idx="8">
                  <c:v>29.8</c:v>
                </c:pt>
                <c:pt idx="9">
                  <c:v>32.2</c:v>
                </c:pt>
                <c:pt idx="10">
                  <c:v>35</c:v>
                </c:pt>
                <c:pt idx="11">
                  <c:v>39.4</c:v>
                </c:pt>
                <c:pt idx="12">
                  <c:v>41.6</c:v>
                </c:pt>
                <c:pt idx="13">
                  <c:v>43.4</c:v>
                </c:pt>
                <c:pt idx="14">
                  <c:v>46.5</c:v>
                </c:pt>
                <c:pt idx="15">
                  <c:v>46.9</c:v>
                </c:pt>
                <c:pt idx="16">
                  <c:v>44.3</c:v>
                </c:pt>
                <c:pt idx="17">
                  <c:v>41.6</c:v>
                </c:pt>
                <c:pt idx="18">
                  <c:v>39.4</c:v>
                </c:pt>
                <c:pt idx="19">
                  <c:v>37.5</c:v>
                </c:pt>
                <c:pt idx="20">
                  <c:v>36.1</c:v>
                </c:pt>
                <c:pt idx="21">
                  <c:v>35.5</c:v>
                </c:pt>
                <c:pt idx="22">
                  <c:v>34.6</c:v>
                </c:pt>
                <c:pt idx="23">
                  <c:v>33.7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6時間前の予測</c:v>
                </c:pt>
              </c:strCache>
            </c:strRef>
          </c:tx>
          <c:spPr>
            <a:solidFill>
              <a:srgbClr val="2E75B6"/>
            </a:solidFill>
            <a:ln w="25400" cap="flat">
              <a:solidFill>
                <a:srgbClr val="2E75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75B6"/>
              </a:solidFill>
              <a:ln w="9525" cap="flat">
                <a:solidFill>
                  <a:srgbClr val="2E75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31.4</c:v>
                </c:pt>
                <c:pt idx="1">
                  <c:v>30.7</c:v>
                </c:pt>
                <c:pt idx="2">
                  <c:v>29.7</c:v>
                </c:pt>
                <c:pt idx="3">
                  <c:v>29.6</c:v>
                </c:pt>
                <c:pt idx="4">
                  <c:v>29.6</c:v>
                </c:pt>
                <c:pt idx="5">
                  <c:v>28.8</c:v>
                </c:pt>
                <c:pt idx="6">
                  <c:v>28.7</c:v>
                </c:pt>
                <c:pt idx="7">
                  <c:v>28.9</c:v>
                </c:pt>
                <c:pt idx="8">
                  <c:v>30.3</c:v>
                </c:pt>
                <c:pt idx="9">
                  <c:v>32</c:v>
                </c:pt>
                <c:pt idx="10">
                  <c:v>33.2</c:v>
                </c:pt>
                <c:pt idx="11">
                  <c:v>35.7</c:v>
                </c:pt>
                <c:pt idx="12">
                  <c:v>36.7</c:v>
                </c:pt>
                <c:pt idx="13">
                  <c:v>37.9</c:v>
                </c:pt>
                <c:pt idx="14">
                  <c:v>40</c:v>
                </c:pt>
                <c:pt idx="15">
                  <c:v>42.5</c:v>
                </c:pt>
                <c:pt idx="16">
                  <c:v>41.9</c:v>
                </c:pt>
                <c:pt idx="17">
                  <c:v>41.4</c:v>
                </c:pt>
                <c:pt idx="18">
                  <c:v>39.8</c:v>
                </c:pt>
                <c:pt idx="19">
                  <c:v>38.6</c:v>
                </c:pt>
                <c:pt idx="20">
                  <c:v>38.4</c:v>
                </c:pt>
                <c:pt idx="21">
                  <c:v>37.3</c:v>
                </c:pt>
                <c:pt idx="22">
                  <c:v>35.7</c:v>
                </c:pt>
                <c:pt idx="23">
                  <c:v>33.5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閾値</c:v>
                </c:pt>
              </c:strCache>
            </c:strRef>
          </c:tx>
          <c:spPr>
            <a:solidFill>
              <a:srgbClr val="C55A11"/>
            </a:solidFill>
            <a:ln w="25400" cap="flat">
              <a:solidFill>
                <a:srgbClr val="C55A1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55A11"/>
              </a:solidFill>
              <a:ln w="9525" cap="flat">
                <a:solidFill>
                  <a:srgbClr val="C55A1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46.4</c:v>
                </c:pt>
                <c:pt idx="1">
                  <c:v>46.4</c:v>
                </c:pt>
                <c:pt idx="2">
                  <c:v>46.4</c:v>
                </c:pt>
                <c:pt idx="3">
                  <c:v>46.4</c:v>
                </c:pt>
                <c:pt idx="4">
                  <c:v>46.4</c:v>
                </c:pt>
                <c:pt idx="5">
                  <c:v>46.4</c:v>
                </c:pt>
                <c:pt idx="6">
                  <c:v>46.4</c:v>
                </c:pt>
                <c:pt idx="7">
                  <c:v>46.4</c:v>
                </c:pt>
                <c:pt idx="8">
                  <c:v>46.4</c:v>
                </c:pt>
                <c:pt idx="9">
                  <c:v>46.4</c:v>
                </c:pt>
                <c:pt idx="10">
                  <c:v>46.4</c:v>
                </c:pt>
                <c:pt idx="11">
                  <c:v>46.4</c:v>
                </c:pt>
                <c:pt idx="12">
                  <c:v>46.4</c:v>
                </c:pt>
                <c:pt idx="13">
                  <c:v>46.4</c:v>
                </c:pt>
                <c:pt idx="14">
                  <c:v>46.4</c:v>
                </c:pt>
                <c:pt idx="15">
                  <c:v>46.4</c:v>
                </c:pt>
                <c:pt idx="16">
                  <c:v>46.4</c:v>
                </c:pt>
                <c:pt idx="17">
                  <c:v>46.4</c:v>
                </c:pt>
                <c:pt idx="18">
                  <c:v>46.4</c:v>
                </c:pt>
                <c:pt idx="19">
                  <c:v>46.4</c:v>
                </c:pt>
                <c:pt idx="20">
                  <c:v>46.4</c:v>
                </c:pt>
                <c:pt idx="21">
                  <c:v>46.4</c:v>
                </c:pt>
                <c:pt idx="22">
                  <c:v>46.4</c:v>
                </c:pt>
                <c:pt idx="23">
                  <c:v>46.4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26"/>
        </c:scaling>
        <c:delete val="0"/>
        <c:axPos val="l"/>
        <c:majorGridlines>
          <c:spPr>
            <a:ln w="9525" cap="flat">
              <a:solidFill>
                <a:srgbClr val="EBEBEB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6E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C9D8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変圧器の油温を6時間先まで予測し、</a:t>
            </a:r>
            <a:endParaRPr lang="en-US" sz="30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高温になる前に知らせられるか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697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C9D8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ETT公開データを使った油温予測の検証報告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200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C9D8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沓脱 聖　｜　2026年9月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設備2では6時間先の誤差を18%減らし、</a:t>
            </a:r>
            <a:endParaRPr lang="en-US" sz="2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高温13区間中10区間を事前に検知した</a:t>
            </a:r>
            <a:endParaRPr lang="en-US" sz="2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66751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精度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6時間先のMAEは1.95℃（最良の比較手法は2.37℃）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事前検知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平均4.0時間前に検知。通知12件のうち誤通知は3件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限界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24時間先と設備1は改善が小さく、短い高温は見逃す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337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提案：現場へ通知せずに試行し、通知候補の数と外れた数を確かめる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4851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設備2（ETTh2）・テスト期間 2017年11月〜2018年6月・主な評価（予測時点までの観測だけを使う）の条件。区間と通知は別の数え方（定義は付録D）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超えてから気づく閾値監視から、</a:t>
            </a:r>
            <a:endParaRPr lang="en-US" sz="2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超える前に手を打てる予防保全へ移りたい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7680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08000"/>
              </a:lnSpc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油温は、設備の劣化や事故のリスクと密接に関係する</a:t>
            </a:r>
            <a:endParaRPr lang="en-US" sz="2200" dirty="0"/>
          </a:p>
          <a:p>
            <a:pPr marL="254000" indent="-254000">
              <a:lnSpc>
                <a:spcPct val="108000"/>
              </a:lnSpc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これまでは経験則にもとづく閾値監視が中心だった</a:t>
            </a:r>
            <a:endParaRPr lang="en-US" sz="2200" dirty="0"/>
          </a:p>
          <a:p>
            <a:pPr marL="254000" indent="-254000">
              <a:lnSpc>
                <a:spcPct val="108000"/>
              </a:lnSpc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負荷の変動や外部要因で、温度の動きが複雑になっている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4851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ご相談時に伺った背景より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問いは、予測の精度・高温の事前検知・</a:t>
            </a:r>
            <a:endParaRPr lang="en-US" sz="2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外れる理由の3つに絞った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32004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問い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測るもの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事前に決めた目標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予測の精度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平均絶対誤差（MAE）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最良の比較手法より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MAEで10%以上改善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高温の事前検知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検知率・通知数・先行時間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通知が平均1日1件以下で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検知率50%以上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外れる理由と効く情報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誤差の傾向と特徴量の効果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目標は置かず、改善点を探す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4851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高温は、学習期間の油温の上位5%で定義した。故障や危険を示す温度ではない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油温は時刻と季節で大きく動き、</a:t>
            </a:r>
            <a:endParaRPr lang="en-US" sz="2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負荷との相関は最大でも0.50だった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48463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01840" y="4025189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198588" y="4025189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695336" y="4025189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2192083" y="4025189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688831" y="4025189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185579" y="4025189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682327" y="4025189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179075" y="4025189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940503" y="2070655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夏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940503" y="34681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冬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277019" y="2193377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277019" y="2658844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秋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1280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平均油温（℃）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410151" y="43708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時刻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984809" y="1598371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どの季節も15時ごろが最高、朝6〜8時が最低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806440" y="1463040"/>
            <a:ext cx="2880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1日の平均的な振れ幅は、</a:t>
            </a:r>
            <a:endParaRPr lang="en-US" sz="16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 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季節ごとに8.1〜11.0℃</a:t>
            </a:r>
            <a:endParaRPr lang="en-US" sz="160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油温の1時間ラグ相関は0.994</a:t>
            </a:r>
            <a:endParaRPr lang="en-US" sz="16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 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履歴を予測の土台にする</a:t>
            </a:r>
            <a:endParaRPr lang="en-US" sz="160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負荷6種との同時刻の相関は</a:t>
            </a:r>
            <a:endParaRPr lang="en-US" sz="16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 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最大でも0.50</a:t>
            </a:r>
            <a:endParaRPr lang="en-US" sz="160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時刻と季節を特徴量に入れ、</a:t>
            </a:r>
            <a:endParaRPr lang="en-US" sz="16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 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負荷の効果は誤差で確かめる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44851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設備2（ETTh2）の全期間 2016年7月〜2018年6月。時刻別の平均を季節ごとに計算。負荷との相関は同時刻の値。データ：Zhou et al. (2021)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主な評価では、予測時点までの観測だけから</a:t>
            </a:r>
            <a:endParaRPr lang="en-US" sz="2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6時間先の油温を予測した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2061972"/>
            <a:ext cx="3931920" cy="82296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754880" y="2061972"/>
            <a:ext cx="3566160" cy="82296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4592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観測済み（油温と負荷）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6459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未来（使うのは時刻と季節だけ）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654296" y="2002536"/>
            <a:ext cx="201168" cy="201168"/>
          </a:xfrm>
          <a:prstGeom prst="ellipse">
            <a:avLst/>
          </a:prstGeom>
          <a:solidFill>
            <a:srgbClr val="1F4E7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40296" y="2002536"/>
            <a:ext cx="201168" cy="201168"/>
          </a:xfrm>
          <a:prstGeom prst="ellipse">
            <a:avLst/>
          </a:prstGeom>
          <a:solidFill>
            <a:srgbClr val="2E75B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40480" y="2286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予測時点（現在）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2286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予測先（6時間後）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88036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主な評価：予測時点までの油温・負荷と、予測先の時刻・季節を使う</a:t>
            </a:r>
            <a:endParaRPr lang="en-US" sz="18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参考評価：予測先の負荷が事前に分かると仮定した場合も比べる</a:t>
            </a:r>
            <a:endParaRPr lang="en-US" sz="1800" dirty="0"/>
          </a:p>
          <a:p>
            <a:pPr marL="203200" indent="-2032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1時間先と24時間先の結果は付録Bに載せる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期間を暦で区切り、モデルの選択は検証期間だけで行った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32017" cy="47548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320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学習　12か月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01952"/>
            <a:ext cx="413201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2016年7月〜2017年6月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89217" y="1371600"/>
            <a:ext cx="1377339" cy="475488"/>
          </a:xfrm>
          <a:prstGeom prst="rect">
            <a:avLst/>
          </a:prstGeom>
          <a:solidFill>
            <a:srgbClr val="5B8DC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89217" y="1371600"/>
            <a:ext cx="137733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検証　4か月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89217" y="1901952"/>
            <a:ext cx="13773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2017年7月〜10月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66556" y="1371600"/>
            <a:ext cx="2720244" cy="475488"/>
          </a:xfrm>
          <a:prstGeom prst="rect">
            <a:avLst/>
          </a:prstGeom>
          <a:solidFill>
            <a:srgbClr val="2E75B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66556" y="1371600"/>
            <a:ext cx="27202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テスト　約8か月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966556" y="1901952"/>
            <a:ext cx="27202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2017年11月〜2018年6月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LightGBMを、持続予測・前日同時刻の値・リッジ回帰と比べた</a:t>
            </a:r>
            <a:endParaRPr lang="en-US" sz="1800" dirty="0"/>
          </a:p>
          <a:p>
            <a:pPr marL="203200" indent="-203200">
              <a:lnSpc>
                <a:spcPct val="108000"/>
              </a:lnSpc>
              <a:buSzPct val="100000"/>
              <a:buChar char="•"/>
            </a:pPr>
            <a:r>
              <a:rPr lang="en-US" sz="18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予測時点より後の観測を除いても、</a:t>
            </a:r>
            <a:endParaRPr lang="en-US" sz="1800" dirty="0"/>
          </a:p>
          <a:p>
            <a:pPr marL="203200" indent="-203200">
              <a:lnSpc>
                <a:spcPct val="108000"/>
              </a:lnSpc>
              <a:spcAft>
                <a:spcPts val="1200"/>
              </a:spcAft>
              <a:buSzPct val="100000"/>
              <a:buChar char=" "/>
            </a:pPr>
            <a:r>
              <a:rPr lang="en-US" sz="18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特徴量が変わらないことを実行のたびに確かめている</a:t>
            </a:r>
            <a:endParaRPr lang="en-US" sz="1800" dirty="0"/>
          </a:p>
          <a:p>
            <a:pPr marL="203200" indent="-2032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テストの結果を見て、モデルや特徴量を選び直していない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6時間先の誤差は設備2で1.95℃、</a:t>
            </a:r>
            <a:endParaRPr lang="en-US" sz="2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最良の比較手法より18%小さい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80160"/>
          <a:ext cx="49377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12344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平均絶対誤差（℃）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200754" y="319764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リッジ比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200754" y="339881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−18%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715000" y="1371600"/>
            <a:ext cx="29718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設備1は、最良の比較手法より</a:t>
            </a:r>
            <a:endParaRPr lang="en-US" sz="16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 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4%小さいだけ</a:t>
            </a:r>
            <a:endParaRPr lang="en-US" sz="160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設備2の1時間先は、</a:t>
            </a:r>
            <a:endParaRPr lang="en-US" sz="16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 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持続予測の0.91℃に対して0.37℃</a:t>
            </a:r>
            <a:endParaRPr lang="en-US" sz="16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24時間先は明確な改善なし（付録B）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4851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設備2（ETTh2）・6時間先・テスト期間 2017年11月〜2018年6月（5,702時点）・主な評価の条件。データ：ETT（Zhou et al., 2021）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設備2では、テスト期間の8か月すべてで</a:t>
            </a:r>
            <a:endParaRPr lang="en-US" sz="2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持続予測とリッジ回帰より誤差が小さかった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71600"/>
          <a:ext cx="47548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35635" y="404256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11月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175461" y="404256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12月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615288" y="404256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1月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2055114" y="404256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2月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494940" y="404256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2934767" y="404256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4月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374593" y="404256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5月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14420" y="404256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6月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381805" y="18172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持続予測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381805" y="297606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リッジ回帰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381805" y="321380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LightGBM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118872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平均絶対誤差（℃）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918515" y="340137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8か月すべてで最小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852160" y="137160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5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月ごとに見ても、</a:t>
            </a:r>
            <a:endParaRPr lang="en-US" sz="1500" dirty="0"/>
          </a:p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 "/>
            </a:pPr>
            <a:r>
              <a:rPr lang="en-US" sz="15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リッジ回帰より3〜28%小さい</a:t>
            </a:r>
            <a:endParaRPr lang="en-US" sz="150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5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週ごとでも35週中、</a:t>
            </a:r>
            <a:endParaRPr lang="en-US" sz="1500" dirty="0"/>
          </a:p>
          <a:p>
            <a:pPr marL="177800" indent="-177800">
              <a:lnSpc>
                <a:spcPct val="108000"/>
              </a:lnSpc>
              <a:buSzPct val="100000"/>
              <a:buChar char=" "/>
            </a:pPr>
            <a:r>
              <a:rPr lang="en-US" sz="15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持続予測より34週、</a:t>
            </a:r>
            <a:endParaRPr lang="en-US" sz="1500" dirty="0"/>
          </a:p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 "/>
            </a:pPr>
            <a:r>
              <a:rPr lang="en-US" sz="15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リッジ回帰より32週で小さい</a:t>
            </a:r>
            <a:endParaRPr lang="en-US" sz="150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5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設備1が持続予測より</a:t>
            </a:r>
            <a:endParaRPr lang="en-US" sz="1500" dirty="0"/>
          </a:p>
          <a:p>
            <a:pPr marL="177800" indent="-177800">
              <a:lnSpc>
                <a:spcPct val="108000"/>
              </a:lnSpc>
              <a:buSzPct val="100000"/>
              <a:buChar char=" "/>
            </a:pPr>
            <a:r>
              <a:rPr lang="en-US" sz="15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小さかったのは35週中19週</a:t>
            </a:r>
            <a:endParaRPr lang="en-US" sz="1500" dirty="0"/>
          </a:p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 "/>
            </a:pPr>
            <a:r>
              <a:rPr lang="en-US" sz="15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週によって優劣が分かれた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4851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設備2・6時間先・主な評価の条件。月と週は予測先の時刻で区切り、それぞれの平均絶対誤差を比べた。データ：ETT（Zhou et al., 2021）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今回の比較では、負荷より時刻と季節を足したほうが</a:t>
            </a:r>
            <a:endParaRPr lang="en-US" sz="2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誤差が大きく下がった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80160"/>
          <a:ext cx="50292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12344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平均絶対誤差（℃）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1581912" y="200332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−32%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1371600"/>
            <a:ext cx="2926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設備1でも同じ傾向</a:t>
            </a:r>
            <a:endParaRPr lang="en-US" sz="1600" dirty="0"/>
          </a:p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 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（1.52→1.12℃）</a:t>
            </a:r>
            <a:endParaRPr lang="en-US" sz="160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予測時点までの負荷を足すと、</a:t>
            </a:r>
            <a:endParaRPr lang="en-US" sz="1600" dirty="0"/>
          </a:p>
          <a:p>
            <a:pPr marL="177800" indent="-177800">
              <a:lnSpc>
                <a:spcPct val="108000"/>
              </a:lnSpc>
              <a:buSzPct val="100000"/>
              <a:buChar char=" 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設備1は約1%改善、</a:t>
            </a:r>
            <a:endParaRPr lang="en-US" sz="1600" dirty="0"/>
          </a:p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 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設備2は悪化</a:t>
            </a:r>
            <a:endParaRPr lang="en-US" sz="160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主な結果の1.95℃は、</a:t>
            </a:r>
            <a:endParaRPr lang="en-US" sz="1600" dirty="0"/>
          </a:p>
          <a:p>
            <a:pPr marL="177800" indent="-177800">
              <a:lnSpc>
                <a:spcPct val="108000"/>
              </a:lnSpc>
              <a:buSzPct val="100000"/>
              <a:buChar char=" 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事前に固定した</a:t>
            </a:r>
            <a:endParaRPr lang="en-US" sz="1600" dirty="0"/>
          </a:p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 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負荷ありの構成</a:t>
            </a:r>
            <a:endParaRPr lang="en-US" sz="160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負荷なしの構成は、</a:t>
            </a:r>
            <a:endParaRPr lang="en-US" sz="1600" dirty="0"/>
          </a:p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 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別の期間で確かめる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4851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設備2・6時間先・テスト期間。特徴量は左から順に足した。4本目は予測時点では分からない情報を使う参考比較。データ：ETT（Zhou et al., 2021）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設備2では高温13区間のうち10区間を事前に検知し、</a:t>
            </a:r>
            <a:endParaRPr lang="en-US" sz="2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誤通知は3件だった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80160"/>
          <a:ext cx="49377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12344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事前に検知できた高温区間の数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55955" y="1914388"/>
            <a:ext cx="4740250" cy="0"/>
          </a:xfrm>
          <a:prstGeom prst="line">
            <a:avLst/>
          </a:prstGeom>
          <a:noFill/>
          <a:ln w="12700">
            <a:solidFill>
              <a:srgbClr val="C55A11"/>
            </a:solidFill>
            <a:prstDash val="dash"/>
          </a:ln>
        </p:spPr>
      </p:sp>
      <p:sp>
        <p:nvSpPr>
          <p:cNvPr id="7" name="Text 4"/>
          <p:cNvSpPr txBox="1"/>
          <p:nvPr/>
        </p:nvSpPr>
        <p:spPr>
          <a:xfrm>
            <a:off x="601675" y="16400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C55A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高温区間は全部で13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715000" y="1371600"/>
            <a:ext cx="29718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通知12件のうち、誤通知は3件</a:t>
            </a:r>
            <a:endParaRPr lang="en-US" sz="16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 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通知と区間は1対1ではない</a:t>
            </a:r>
            <a:endParaRPr lang="en-US" sz="160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検知した10区間では、</a:t>
            </a:r>
            <a:endParaRPr lang="en-US" sz="1600" dirty="0"/>
          </a:p>
          <a:p>
            <a:pPr marL="177800" indent="-177800">
              <a:lnSpc>
                <a:spcPct val="108000"/>
              </a:lnSpc>
              <a:buSzPct val="100000"/>
              <a:buChar char=" 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閾値を超える平均4.0時間前に</a:t>
            </a:r>
            <a:endParaRPr lang="en-US" sz="16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 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予測が的中</a:t>
            </a:r>
            <a:endParaRPr lang="en-US" sz="16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高温区間は5〜6月に集中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4851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設備2・6時間先・閾値46.4℃（学習期間の上位5%）。区間は連続した超過、通知は連続した警報をそれぞれ1件と数える。定義は付録D。データ：ETT（Zhou et al., 2021）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閾値を超える3時間前に警報を出せたが、</a:t>
            </a:r>
            <a:endParaRPr lang="en-US" sz="2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12〜14時の超過は6時間前に予測できなかった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548640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01802" y="404850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181862" y="404850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661922" y="404850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2141982" y="404850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622042" y="404850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102102" y="404850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582162" y="404850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062222" y="404850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2816352" y="1565910"/>
            <a:ext cx="1120140" cy="2436876"/>
          </a:xfrm>
          <a:prstGeom prst="rect">
            <a:avLst/>
          </a:prstGeom>
          <a:solidFill>
            <a:srgbClr val="C55A11">
              <a:alpha val="12000"/>
            </a:srgbClr>
          </a:solidFill>
          <a:ln w="12700">
            <a:solidFill>
              <a:srgbClr val="C55A11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321558" y="1693812"/>
            <a:ext cx="109728" cy="109728"/>
          </a:xfrm>
          <a:prstGeom prst="ellipse">
            <a:avLst/>
          </a:prstGeom>
          <a:solidFill>
            <a:srgbClr val="C55A1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81578" y="1718180"/>
            <a:ext cx="109728" cy="109728"/>
          </a:xfrm>
          <a:prstGeom prst="ellipse">
            <a:avLst/>
          </a:prstGeom>
          <a:solidFill>
            <a:srgbClr val="C55A1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41598" y="1852209"/>
            <a:ext cx="109728" cy="109728"/>
          </a:xfrm>
          <a:prstGeom prst="ellipse">
            <a:avLst/>
          </a:prstGeom>
          <a:solidFill>
            <a:srgbClr val="C55A1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09744" y="188567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C55A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 46.4℃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809744" y="2433973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実測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809744" y="2671717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6時間前の予測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12344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油温（℃）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3456432" y="437083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予測先の時刻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161464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C55A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警報を出した時刻：9時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C55A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予測先：15時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 flipV="1">
            <a:off x="2880360" y="1748676"/>
            <a:ext cx="432054" cy="48852"/>
          </a:xfrm>
          <a:prstGeom prst="line">
            <a:avLst/>
          </a:prstGeom>
          <a:noFill/>
          <a:ln w="9525">
            <a:solidFill>
              <a:srgbClr val="C55A1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850642" y="271131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12〜14時は</a:t>
            </a:r>
            <a:endParaRPr lang="en-US" sz="11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予測が閾値に届かず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6309360" y="1371600"/>
            <a:ext cx="2377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超過は12〜18時の7時間</a:t>
            </a:r>
            <a:endParaRPr lang="en-US" sz="1500" dirty="0"/>
          </a:p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9時に警報を出した</a:t>
            </a:r>
            <a:endParaRPr lang="en-US" sz="150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5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12〜14時の超過は</a:t>
            </a:r>
            <a:endParaRPr lang="en-US" sz="1500" dirty="0"/>
          </a:p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 "/>
            </a:pPr>
            <a:r>
              <a:rPr lang="en-US" sz="15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予測できなかった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44851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設備2・2018年5月15日。横軸は予測先の時刻で、予測はその6時間前に出したもの。橙の点は警報が指す予測先の時刻、橙の帯は実測が閾値を超えた時間。データ：ETT（Zhou et al., 2021）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1・6・24時間先ごとに油温の変化量を予測し、</a:t>
            </a:r>
            <a:endParaRPr lang="en-US" sz="2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設計は検証期間で決めた</a:t>
            </a:r>
            <a:endParaRPr lang="en-US" sz="2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448056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判断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理由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現在から予測先までの油温差を予測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油温の直接予測より検証誤差が小さい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1・6・24時間先で別々のモデル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予測値の再入力による誤差の蓄積を避ける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絶対誤差で学習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評価指標のMAEに合わせる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特徴量と閾値はテスト前に固定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テスト結果を見た選び直しを防ぐ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保全効果と、評価していない設備での有効性は、</a:t>
            </a:r>
            <a:endParaRPr lang="en-US" sz="2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今回の検証では確認できていない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7680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故障・点検記録がなく、保全効果は未検証</a:t>
            </a:r>
            <a:endParaRPr lang="en-US" sz="20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評価は2台のみ。設備1の改善は小さい</a:t>
            </a:r>
            <a:endParaRPr lang="en-US" sz="20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高温は油温の上位5%で定義。危険温度ではない</a:t>
            </a:r>
            <a:endParaRPr lang="en-US" sz="20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高温区間は5〜6月に集中。通年の検知性能は未検証</a:t>
            </a:r>
            <a:endParaRPr lang="en-US" sz="2000" dirty="0"/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24時間先は、持続予測に対する明確な改善なし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C9D8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まず現場へ通知せずに予測を試し、</a:t>
            </a:r>
            <a:endParaRPr lang="en-US" sz="2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通知候補の数と、そのうち外れた数を確かめる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設備2は6時間先の誤差を18%減らし、高温13区間中10区間を事前に検知</a:t>
            </a:r>
            <a:endParaRPr lang="en-US" sz="1800" dirty="0"/>
          </a:p>
          <a:p>
            <a:pPr marL="203200" indent="-2032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保全効果と、評価していない設備での有効性は未検証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C9D8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試行では、通知候補の数・先行時間・見逃しを記録する</a:t>
            </a:r>
            <a:endParaRPr lang="en-US" sz="1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C9D8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許容できる誤通知の数は、現場と決める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3434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D8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github.com/HJRKTNG/ett-oil-temperature-poc　｜　沓脱 聖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参考文献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922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データの出典論文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Zhou, H. et al. (2021). Informer: Beyond Efficient Transformer for Long Sequence Time-Series Forecasting. AAAI 2021.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データの配布元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ETDataset. https://github.com/zhouhaoyi/ETDataset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利用条件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CC BY-ND 4.0。配布 CSV は改変せず保存し、特徴量はコードで作成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予測手法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Ke, G. et al. (2017). LightGBM: A Highly Efficient Gradient Boosting Decision Tree. NeurIPS 2017.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付録A　特徴量とモデル設定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1148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主な評価の特徴量は、予測時点までの値と</a:t>
            </a:r>
            <a:endParaRPr lang="en-US" sz="2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予測先の時刻・季節に限った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583680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油温の履歴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現在値、1・2・3・6・12・24・48・168時間前の値、現在値と1時間前・24時間前との差、6・24・168時間の移動平均・標準偏差・最大・最小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時刻・季節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予測先の時刻と年内の日（sin・cos）、曜日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負荷6種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現在値、現在値と1時間前との差、24時間平均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参考評価のみ：予測先の実測負荷も追加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LightGBM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絶対誤差（L1）で学習。学習率0.03、最大葉数31、葉ごとの最小データ数50、特徴量と行の抽出率0.8。検証期間の誤差が100回続けて改善しなければ学習を終了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付録B　予測する時間ごとの結果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1148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1時間先は設備2で大きく改善し、</a:t>
            </a:r>
            <a:endParaRPr lang="en-US" sz="2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24時間先は持続予測をほぼ上回らなかった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760720" cy="914400"/>
        </p:xfrm>
        <a:graphic>
          <a:graphicData uri="http://schemas.openxmlformats.org/drawingml/2006/table">
            <a:tbl>
              <a:tblPr/>
              <a:tblGrid>
                <a:gridCol w="1481328"/>
                <a:gridCol w="713232"/>
                <a:gridCol w="713232"/>
                <a:gridCol w="713232"/>
                <a:gridCol w="713232"/>
                <a:gridCol w="713232"/>
                <a:gridCol w="713232"/>
              </a:tblGrid>
              <a:tr h="384048">
                <a:tc row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平均絶対誤差（℃）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小さいほど良い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38404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1時間先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6時間先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24時間先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1時間先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6時間先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24時間先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持続予測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前日同時刻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リッジ回帰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LightGBM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E75B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400" marR="254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92240" y="1417320"/>
            <a:ext cx="2194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8000"/>
              </a:lnSpc>
              <a:buSzPct val="100000"/>
              <a:buChar char="•"/>
            </a:pPr>
            <a:r>
              <a:rPr lang="en-US" sz="1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設備2の1時間先は、</a:t>
            </a:r>
            <a:endParaRPr lang="en-US" sz="1400" dirty="0"/>
          </a:p>
          <a:p>
            <a:pPr marL="165100" indent="-165100">
              <a:lnSpc>
                <a:spcPct val="108000"/>
              </a:lnSpc>
              <a:spcAft>
                <a:spcPts val="1200"/>
              </a:spcAft>
              <a:buSzPct val="100000"/>
              <a:buChar char=" "/>
            </a:pPr>
            <a:r>
              <a:rPr lang="en-US" sz="1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0.91℃から0.37℃へ（−59%）</a:t>
            </a:r>
            <a:endParaRPr lang="en-US" sz="1400" dirty="0"/>
          </a:p>
          <a:p>
            <a:pPr marL="165100" indent="-165100">
              <a:lnSpc>
                <a:spcPct val="108000"/>
              </a:lnSpc>
              <a:buSzPct val="100000"/>
              <a:buChar char="•"/>
            </a:pPr>
            <a:r>
              <a:rPr lang="en-US" sz="1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24時間先のLightGBMは</a:t>
            </a:r>
            <a:endParaRPr lang="en-US" sz="1400" dirty="0"/>
          </a:p>
          <a:p>
            <a:pPr marL="165100" indent="-165100">
              <a:lnSpc>
                <a:spcPct val="108000"/>
              </a:lnSpc>
              <a:buSzPct val="100000"/>
              <a:buChar char=" "/>
            </a:pPr>
            <a:r>
              <a:rPr lang="en-US" sz="1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持続予測に比べて、</a:t>
            </a:r>
            <a:endParaRPr lang="en-US" sz="1400" dirty="0"/>
          </a:p>
          <a:p>
            <a:pPr marL="165100" indent="-165100">
              <a:lnSpc>
                <a:spcPct val="108000"/>
              </a:lnSpc>
              <a:buSzPct val="100000"/>
              <a:buChar char=" "/>
            </a:pPr>
            <a:r>
              <a:rPr lang="en-US" sz="1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設備1で悪化、</a:t>
            </a:r>
            <a:endParaRPr lang="en-US" sz="1400" dirty="0"/>
          </a:p>
          <a:p>
            <a:pPr marL="165100" indent="-165100">
              <a:lnSpc>
                <a:spcPct val="108000"/>
              </a:lnSpc>
              <a:spcAft>
                <a:spcPts val="1200"/>
              </a:spcAft>
              <a:buSzPct val="100000"/>
              <a:buChar char=" "/>
            </a:pPr>
            <a:r>
              <a:rPr lang="en-US" sz="1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設備2でほぼ同じ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4851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テスト期間・主な評価の条件。データ：ETT（Zhou et al., 2021）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付録C　見逃した例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1148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14時と15時の高温を、6時間前の予測では捉えられなかった</a:t>
            </a:r>
            <a:endParaRPr lang="en-US" sz="2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17320"/>
          <a:ext cx="548640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01802" y="404850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181862" y="404850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661922" y="404850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141982" y="404850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2622042" y="404850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102102" y="404850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582162" y="404850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062222" y="404850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136392" y="1565910"/>
            <a:ext cx="320040" cy="2436876"/>
          </a:xfrm>
          <a:prstGeom prst="rect">
            <a:avLst/>
          </a:prstGeom>
          <a:solidFill>
            <a:srgbClr val="C55A11">
              <a:alpha val="12000"/>
            </a:srgbClr>
          </a:solidFill>
          <a:ln w="12700">
            <a:solidFill>
              <a:srgbClr val="C55A11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809744" y="1812569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C55A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 46.4℃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809744" y="3102083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実測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809744" y="3339827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6時間前の予測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12344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油温（℃）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3456432" y="437083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予測先の時刻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3152394" y="2517267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312414" y="2263426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667762" y="159334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C55A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14〜15時の超過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309360" y="1417320"/>
            <a:ext cx="2377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8000"/>
              </a:lnSpc>
              <a:buSzPct val="100000"/>
              <a:buChar char="•"/>
            </a:pPr>
            <a:r>
              <a:rPr lang="en-US" sz="1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超過したのは</a:t>
            </a:r>
            <a:endParaRPr lang="en-US" sz="1400" dirty="0"/>
          </a:p>
          <a:p>
            <a:pPr marL="165100" indent="-165100">
              <a:lnSpc>
                <a:spcPct val="108000"/>
              </a:lnSpc>
              <a:spcAft>
                <a:spcPts val="1000"/>
              </a:spcAft>
              <a:buSzPct val="100000"/>
              <a:buChar char=" "/>
            </a:pPr>
            <a:r>
              <a:rPr lang="en-US" sz="1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14時と15時の2時点だけ</a:t>
            </a:r>
            <a:endParaRPr lang="en-US" sz="1400" dirty="0"/>
          </a:p>
          <a:p>
            <a:pPr marL="165100" indent="-165100">
              <a:lnSpc>
                <a:spcPct val="108000"/>
              </a:lnSpc>
              <a:buSzPct val="100000"/>
              <a:buChar char="•"/>
            </a:pPr>
            <a:r>
              <a:rPr lang="en-US" sz="1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白丸は、8時と9時に出した</a:t>
            </a:r>
            <a:endParaRPr lang="en-US" sz="1400" dirty="0"/>
          </a:p>
          <a:p>
            <a:pPr marL="165100" indent="-165100">
              <a:lnSpc>
                <a:spcPct val="108000"/>
              </a:lnSpc>
              <a:buSzPct val="100000"/>
              <a:buChar char=" "/>
            </a:pPr>
            <a:r>
              <a:rPr lang="en-US" sz="1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14時・15時の予測</a:t>
            </a:r>
            <a:endParaRPr lang="en-US" sz="1400" dirty="0"/>
          </a:p>
          <a:p>
            <a:pPr marL="165100" indent="-165100">
              <a:lnSpc>
                <a:spcPct val="108000"/>
              </a:lnSpc>
              <a:buSzPct val="100000"/>
              <a:buChar char=" "/>
            </a:pPr>
            <a:r>
              <a:rPr lang="en-US" sz="1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（40.0℃・42.5℃）</a:t>
            </a:r>
            <a:endParaRPr lang="en-US" sz="1400" dirty="0"/>
          </a:p>
          <a:p>
            <a:pPr marL="165100" indent="-165100">
              <a:lnSpc>
                <a:spcPct val="108000"/>
              </a:lnSpc>
              <a:spcAft>
                <a:spcPts val="1000"/>
              </a:spcAft>
              <a:buSzPct val="100000"/>
              <a:buChar char=" "/>
            </a:pPr>
            <a:r>
              <a:rPr lang="en-US" sz="1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どちらも閾値未満</a:t>
            </a:r>
            <a:endParaRPr lang="en-US" sz="1400" dirty="0"/>
          </a:p>
          <a:p>
            <a:pPr marL="165100" indent="-165100">
              <a:lnSpc>
                <a:spcPct val="108000"/>
              </a:lnSpc>
              <a:buSzPct val="100000"/>
              <a:buChar char="•"/>
            </a:pPr>
            <a:r>
              <a:rPr lang="en-US" sz="1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次の検証で、</a:t>
            </a:r>
            <a:endParaRPr lang="en-US" sz="1400" dirty="0"/>
          </a:p>
          <a:p>
            <a:pPr marL="165100" indent="-165100">
              <a:lnSpc>
                <a:spcPct val="108000"/>
              </a:lnSpc>
              <a:buSzPct val="100000"/>
              <a:buChar char=" "/>
            </a:pPr>
            <a:r>
              <a:rPr lang="en-US" sz="1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通知の閾値を下げたときの</a:t>
            </a:r>
            <a:endParaRPr lang="en-US" sz="1400" dirty="0"/>
          </a:p>
          <a:p>
            <a:pPr marL="165100" indent="-165100">
              <a:lnSpc>
                <a:spcPct val="108000"/>
              </a:lnSpc>
              <a:spcAft>
                <a:spcPts val="1000"/>
              </a:spcAft>
              <a:buSzPct val="100000"/>
              <a:buChar char=" "/>
            </a:pPr>
            <a:r>
              <a:rPr lang="en-US" sz="1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見逃しと誤通知を確かめる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44851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設備2・2018年6月4日。横軸は予測先の時刻。データ：ETT（Zhou et al., 2021）、予測は本PoCのLightGBM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付録D　高温検知の数え方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1148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高温の検知は、区間・通知・先行時間を次のように数えた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58368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高温区間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実測が閾値を連続して超えた期間を1区間と数える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検知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高温区間の中の時刻に対する予測が閾値を超え、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その予測を出した時点の実測は閾値以下だった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通知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予測時点で閾値以下のときに出た警報のうち、連続するものを1件と数える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誤通知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通知にまとめた各警報の予測先の時刻で、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実測が一度も閾値を超えなかった通知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先行時間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検知した区間で、最初に的中した予測を出した時点から、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実際に超えた時刻まで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4851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閾値は学習期間の油温の上位5%で固定（設備2は46.4℃）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7777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付録E　高温の基準を上位10%にした場合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1148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高温の基準を上位10%に広げても、</a:t>
            </a:r>
            <a:endParaRPr lang="en-US" sz="2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検知率はほぼ変わらなかった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737360"/>
                <a:gridCol w="17373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設備2・6時間先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上位5%（46.4℃）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上位10%（43.1℃）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高温区間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13区間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25区間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事前に検知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10区間（77%）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19区間（76%）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通知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24件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1日あたりの通知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0.05件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0.10件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誤通知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先行時間（平均）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4.0時間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4.6時間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126480" y="1417320"/>
            <a:ext cx="2560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5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検知率は77%と76%で</a:t>
            </a:r>
            <a:endParaRPr lang="en-US" sz="1500" dirty="0"/>
          </a:p>
          <a:p>
            <a:pPr marL="177800" indent="-177800">
              <a:lnSpc>
                <a:spcPct val="108000"/>
              </a:lnSpc>
              <a:buSzPct val="100000"/>
              <a:buChar char=" "/>
            </a:pPr>
            <a:r>
              <a:rPr lang="en-US" sz="15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ほぼ同じだが、通知は</a:t>
            </a:r>
            <a:endParaRPr lang="en-US" sz="1500" dirty="0"/>
          </a:p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 "/>
            </a:pPr>
            <a:r>
              <a:rPr lang="en-US" sz="15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12件から24件に増えた</a:t>
            </a:r>
            <a:endParaRPr lang="en-US" sz="150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5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誤通知は3件から</a:t>
            </a:r>
            <a:endParaRPr lang="en-US" sz="1500" dirty="0"/>
          </a:p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 "/>
            </a:pPr>
            <a:r>
              <a:rPr lang="en-US" sz="15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5件に増えた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4851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実測の高温区間と予測による通知の両方に、各列の閾値を当てた。通知の条件だけを緩めた比較ではない。データ：ETT（Zhou et al., 2021）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変圧器油温の先読み PoC</dc:title>
  <dc:subject>PptxGenJS Presentation</dc:subject>
  <dc:creator>Kutsunugi Hijiri</dc:creator>
  <cp:lastModifiedBy>Kutsunugi Hijiri</cp:lastModifiedBy>
  <cp:revision>1</cp:revision>
  <dcterms:created xsi:type="dcterms:W3CDTF">2026-09-18T12:36:04Z</dcterms:created>
  <dcterms:modified xsi:type="dcterms:W3CDTF">2026-09-18T12:36:04Z</dcterms:modified>
</cp:coreProperties>
</file>