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変圧器油温の先読み PoC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26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予防保全に向けた技術検証 — ETT 公開データによる検証結果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120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9 月　沓脱 聖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4406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変圧器 2 台（設備 1 = ETTh1、設備 2 = ETTh2）・2016-07〜2018-06・1 時間ごとの負荷 6 種と油温 OT ／ 主結果はテスト期間 2017-11-01〜2018-06-26（約 8 か月）、予測起点までの観測だけを使う条件で算出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結論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 2 の 6 時間先予測は、最良ベースラインより平均絶対誤差（MAE）を 18% 改善した。現場実証の候補とするが、設備 1 への有効性と保全効果は未確認である。</a:t>
            </a:r>
            <a:endParaRPr lang="en-US" sz="19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3200400"/>
                <a:gridCol w="432511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時間先の MAE（条件 B）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最良ベースライン比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高温の事前検知（閾値 = 学習期間の 95 パーセンタイル）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 2（ETTh2）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 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−18%（リッジ回帰 2.37 ℃）／持続予測比 −56%（4.44 ℃）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高温 13 区間中 10 区間に事前の的中予測（77%）。通知 12 件・誤通知 3 件（約 8 か月）。検知した区間の先行時間は平均 4.0 時間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 1（ETTh1）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 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−4%（持続予測 1.15 ℃）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テスト期間に閾値超えなし → 評価保留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3611880"/>
            <a:ext cx="5349240" cy="2377440"/>
          </a:xfrm>
          <a:prstGeom prst="roundRect">
            <a:avLst>
              <a:gd name="adj" fmla="val 2308"/>
            </a:avLst>
          </a:prstGeom>
          <a:solidFill>
            <a:srgbClr val="EEF5F0"/>
          </a:solidFill>
          <a:ln w="12700">
            <a:solidFill>
              <a:srgbClr val="EEF5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91072" y="3611880"/>
            <a:ext cx="5349240" cy="2377440"/>
          </a:xfrm>
          <a:prstGeom prst="roundRect">
            <a:avLst>
              <a:gd name="adj" fmla="val 2308"/>
            </a:avLst>
          </a:prstGeom>
          <a:solidFill>
            <a:srgbClr val="F5EEEC"/>
          </a:solidFill>
          <a:ln w="12700">
            <a:solidFill>
              <a:srgbClr val="F5EE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3749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F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示せたこと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114800"/>
            <a:ext cx="4892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時間先の精度改善（設備 2 で最良ベースライン比 −18%、持続予測比 −56%）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少ない通知数（約 8 か月で 12 件）での高温の事前検知（設備 2）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効いている情報の特定: 油温の履歴と、対象時刻の時刻・季節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519672" y="3749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3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まだ示せないこと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519672" y="4114800"/>
            <a:ext cx="4892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保全効果そのもの（故障・点検・介入の記録がない）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未学習の設備への汎化（検証は 2 台）と、設備 1 での有効性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時間先の明確な改善、危険温度での検知（閾値は相対的高温の代理）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依頼と問い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今回判断するのは、故障削減ではなく「油温の先読み精度」と「高温前の通知可能性」である。依頼を、数字で答えられる 3 つの問いに置き換えて検証した。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383280" cy="4297680"/>
          </a:xfrm>
          <a:prstGeom prst="roundRect">
            <a:avLst>
              <a:gd name="adj" fmla="val 1622"/>
            </a:avLst>
          </a:prstGeom>
          <a:solidFill>
            <a:srgbClr val="F0F1F4"/>
          </a:solidFill>
          <a:ln w="12700">
            <a:solidFill>
              <a:srgbClr val="F0F1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8288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想定する利用場面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9456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実測値の閾値監視に先読みを加え、高温になる前の確認・対応を支援する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負荷変動・外部要因で温度変動が複雑な設備を対象にする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7947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16052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変圧器 2 台 × 2 年（2016-07〜2018-06）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時間ごとの負荷 6 種＋油温 OT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欠損・重複なし（ETT 公開ベンチマーク）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06240" y="1691640"/>
            <a:ext cx="7434072" cy="1280160"/>
          </a:xfrm>
          <a:prstGeom prst="roundRect">
            <a:avLst>
              <a:gd name="adj" fmla="val 4286"/>
            </a:avLst>
          </a:prstGeom>
          <a:solidFill>
            <a:srgbClr val="E3E7F5"/>
          </a:solidFill>
          <a:ln w="12700">
            <a:solidFill>
              <a:srgbClr val="E3E7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34840" y="1874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問い 1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185623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何時間先を、どの精度で当てられるか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23317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指標: MAE。持続予測・季節ナイーブ・リッジ回帰の中で最良のものとの差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206240" y="3154680"/>
            <a:ext cx="7434072" cy="1280160"/>
          </a:xfrm>
          <a:prstGeom prst="roundRect">
            <a:avLst>
              <a:gd name="adj" fmla="val 4286"/>
            </a:avLst>
          </a:prstGeom>
          <a:solidFill>
            <a:srgbClr val="E3E7F5"/>
          </a:solidFill>
          <a:ln w="12700">
            <a:solidFill>
              <a:srgbClr val="E3E7F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34840" y="33375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問い 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577840" y="331927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高温になる前に知らせられるか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379476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指標: 高温区間の検知率、通知数／日（期間平均）、先行時間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206240" y="4617720"/>
            <a:ext cx="7434072" cy="1280160"/>
          </a:xfrm>
          <a:prstGeom prst="roundRect">
            <a:avLst>
              <a:gd name="adj" fmla="val 4286"/>
            </a:avLst>
          </a:prstGeom>
          <a:solidFill>
            <a:srgbClr val="E3E7F5"/>
          </a:solidFill>
          <a:ln w="12700">
            <a:solidFill>
              <a:srgbClr val="E3E7F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434840" y="48006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問い 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577840" y="478231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どこで外れ、何が効いているか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525780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指標: 対象月・時刻別の誤差、特徴量群ごとの追加効果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前提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主な予測先は「数時間前に確認・運転調整する」想定で 6 時間先とし、高温の閾値は学習期間の 95 パーセンタイル（上位 5% 点）を代理指標として固定した。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先に置いた仮定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03120"/>
            <a:ext cx="5394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設備ごとに別モデル（2 台を混ぜない）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運用時も油温は毎時観測できる（欠測時の代替推定は対象外）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データの到着遅延は 0、再学習なし（固定モデルで約 8 か月を評価）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閾値は設備の危険温度ではなく「相対的高温」の代理。学習期間の 95 パーセンタイル = 設備 1: 35.2 ℃、設備 2: 46.4 ℃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予測先は 6 時間先を主評価、1 時間先・24 時間先を補助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239512" cy="4297680"/>
          </a:xfrm>
          <a:prstGeom prst="roundRect">
            <a:avLst>
              <a:gd name="adj" fmla="val 1277"/>
            </a:avLst>
          </a:prstGeom>
          <a:solidFill>
            <a:srgbClr val="E3E7F5"/>
          </a:solidFill>
          <a:ln w="12700">
            <a:solidFill>
              <a:srgbClr val="E3E7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1828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事前に置いた成功条件（6 時間先・条件 B）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2860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最良ベースラインより MAE を 10% 以上改善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7889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通知 1 件/日以下（期間平均）で、高温区間の検知率 50% 以上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3520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88620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 2 は今回のテスト期間で両方を満たした（−18%、通知 0.05 件/日で検知率 77%）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ただし高温 13 区間は 2018 年 5〜6 月に集中しており、通年運用への適合は未確認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 1 は精度改善が小さく（−4%）、テスト期間に閾値超えが無いため警報は評価不能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予測の枠組み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予測は起点 s で行い、対象時刻 T = s + h の油温を当てる。「対象時刻の負荷が既知」という条件 A と、起点までの観測だけの条件 B を分けて評価した。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2679192"/>
            <a:ext cx="6008888" cy="109728"/>
          </a:xfrm>
          <a:prstGeom prst="rect">
            <a:avLst/>
          </a:prstGeom>
          <a:solidFill>
            <a:srgbClr val="3F55A8"/>
          </a:solidFill>
          <a:ln w="12700">
            <a:solidFill>
              <a:srgbClr val="3F55A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23288" y="2679192"/>
            <a:ext cx="4351264" cy="109728"/>
          </a:xfrm>
          <a:prstGeom prst="rect">
            <a:avLst/>
          </a:prstGeom>
          <a:solidFill>
            <a:srgbClr val="D9DCE3"/>
          </a:solidFill>
          <a:ln w="12700">
            <a:solidFill>
              <a:srgbClr val="D9DC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194560"/>
            <a:ext cx="6008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観測済み（油温・負荷）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923288" y="2194560"/>
            <a:ext cx="4351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未来（未観測。カレンダーだけは既知）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13560" y="2624328"/>
            <a:ext cx="219456" cy="219456"/>
          </a:xfrm>
          <a:prstGeom prst="ellipse">
            <a:avLst/>
          </a:prstGeom>
          <a:solidFill>
            <a:srgbClr val="1B1E26"/>
          </a:solidFill>
          <a:ln w="12700">
            <a:solidFill>
              <a:srgbClr val="1B1E2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14403" y="2624328"/>
            <a:ext cx="219456" cy="219456"/>
          </a:xfrm>
          <a:prstGeom prst="ellipse">
            <a:avLst/>
          </a:prstGeom>
          <a:solidFill>
            <a:srgbClr val="B9642A"/>
          </a:solidFill>
          <a:ln w="12700">
            <a:solidFill>
              <a:srgbClr val="B964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60248" y="29718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予測起点 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903891" y="29718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96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予測対象時刻 T = s + h（当てる油温 OT[T]）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23288" y="3291840"/>
            <a:ext cx="29008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予測ホライズン h = 1 / 6 / 24 時間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5440680" cy="2148840"/>
          </a:xfrm>
          <a:prstGeom prst="roundRect">
            <a:avLst>
              <a:gd name="adj" fmla="val 2553"/>
            </a:avLst>
          </a:prstGeom>
          <a:solidFill>
            <a:srgbClr val="E3E7F5"/>
          </a:solidFill>
          <a:ln w="12700">
            <a:solidFill>
              <a:srgbClr val="E3E7F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069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条件 B（運用条件）— 本資料の主結果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43484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起点 s までに観測した油温・負荷と、起点で既知の対象時刻 T のカレンダー（時刻・季節・曜日）を使う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実運用で毎時できる先読みそのもの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持続予測 = OT[s]、季節ナイーブ = OT[T − 24h] と比較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9632" y="3931920"/>
            <a:ext cx="5440680" cy="2148840"/>
          </a:xfrm>
          <a:prstGeom prst="roundRect">
            <a:avLst>
              <a:gd name="adj" fmla="val 2553"/>
            </a:avLst>
          </a:prstGeom>
          <a:solidFill>
            <a:srgbClr val="F5E6DA"/>
          </a:solidFill>
          <a:ln w="12700">
            <a:solidFill>
              <a:srgbClr val="F5E6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28232" y="4069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96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条件 A（課題条件）— 条件付きの参考値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28232" y="443484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条件 B ＋ 対象時刻 T の負荷 6 種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課題ルール「t=T の油温を予測する際には t=T の特徴量を使ってよい」の解釈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将来の負荷が運転計画で既知、という前提付き。実運用ではその保証がない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油温は滑らかに動き（1 時間自己相関 0.994）、設備 2 は平均的な日内変動が大きい。負荷との相関は弱く、負荷の追加価値は相関ではなく予測誤差の比較で確かめる。</a:t>
            </a:r>
            <a:endParaRPr lang="en-US" sz="1900" dirty="0"/>
          </a:p>
        </p:txBody>
      </p:sp>
      <p:pic>
        <p:nvPicPr>
          <p:cNvPr id="6" name="Image 0" descr="/Users/hjrktng/DEV/ett-oil-temperature-poc/reports/figures/eda_ETTh2_diur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5669280" cy="2971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6634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 2: 季節別の時刻別平均油温（全期間）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737360"/>
          <a:ext cx="51480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51560"/>
                <a:gridCol w="107899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油温の平均 / 標準偏差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 / 8.6 ℃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26.6 / 11.9 ℃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日内振幅（季節別の時刻別平均の最大−最小）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1.9〜3.1 ℃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8.1〜11.0 ℃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時間で 2 ℃を超えて動く割合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油温の 1h / 24h 自己相関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0.994 / 0.941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0.994 / 0.934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負荷 6 種と油温の同時刻相関の最大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0.22（HULL）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0.50（MULL）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ラグ相関の最大絶対値（HUFL・MUFL・LUFL、0〜48h）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0.19（ラグ 0）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92240" y="4434840"/>
            <a:ext cx="51480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季節（外気温の代理）と日内周期が支配的 → 対象時刻の時刻・季節を特徴量に入れる価値を検証する</a:t>
            </a:r>
            <a:endParaRPr lang="en-US" sz="11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 2 は 6 時間先が最も難しい（持続予測の MAE 4.4 ℃。24 時間先の 3.2 ℃より大きい）</a:t>
            </a:r>
            <a:endParaRPr lang="en-US" sz="11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相関だけでは負荷の追加価値を判断できない → 10 ページのアブレーションで測る（相関図は付録 B）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0749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注記: EDA は全期間で行った。以後のモデル選択は検証期間だけで行ったが、テスト期間を「完全に未見」とは呼ばない。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評価の設計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学習 12 か月・検証 4 か月・テスト約 8 か月を暦で固定し、対象時刻と起点の両方で区切ってリークと境界の問題を防いだ。モデル選択には検証期間だけを使った。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545836" cy="548640"/>
          </a:xfrm>
          <a:prstGeom prst="rect">
            <a:avLst/>
          </a:prstGeom>
          <a:solidFill>
            <a:srgbClr val="3F55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783080"/>
            <a:ext cx="55458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学習 2016-07-01 〜 2017-06-30（12 か月）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094476" y="1783080"/>
            <a:ext cx="1848612" cy="548640"/>
          </a:xfrm>
          <a:prstGeom prst="rect">
            <a:avLst/>
          </a:prstGeom>
          <a:solidFill>
            <a:srgbClr val="2F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94476" y="1783080"/>
            <a:ext cx="18486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検証 2017-07 〜 10（4 か月）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943088" y="1783080"/>
            <a:ext cx="3697224" cy="548640"/>
          </a:xfrm>
          <a:prstGeom prst="rect">
            <a:avLst/>
          </a:prstGeom>
          <a:solidFill>
            <a:srgbClr val="B964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43088" y="1783080"/>
            <a:ext cx="3697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テスト 2017-11-01 〜 2018-06-26（約 8 か月。6 時間先の評価件数 5,702 時点）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606040"/>
            <a:ext cx="5852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行の切り方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学習に使う行: 対象時刻 T が学習終了前（ラベルが検証期間に食い込まない）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検証・テストの評価行: 対象時刻 T と起点 s の両方がその期間内（各期間の先頭 h 時間は除外）</a:t>
            </a:r>
            <a:endParaRPr lang="en-US" sz="13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リーク防止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起点までの観測から作る特徴量は、未来のデータを切り落としても値が変わらないことをテストで確認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標準化の平均・標準偏差は学習期間だけで推定。早期終了と、油温差／油温そのものの予測方式の選択には検証期間だけを使う。テスト期間の結果でモデルを再選択しない（EDA は全期間）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606040"/>
            <a:ext cx="48737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比較する手法（簡単な順）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B0 持続予測 OT[s]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 季節ナイーブ OT[T − 24h]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 リッジ回帰（条件 B の特徴量）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LightGBM（L1 目的関数。油温差 OT[T] − OT[s] を予測し OT[s] に足し戻す。予測先ごとに別モデル）</a:t>
            </a:r>
            <a:endParaRPr lang="en-US" sz="13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指標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MAE（主）、RMSE、高温区間の検知率、通知数／日、先行時間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 1 — 精度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時間先の MAE は設備 2 で 4.44（持続）→ 2.37（リッジ）→ 1.95 ℃（LightGBM）。設備 1 は 1.15 → 1.11 ℃で、改善は小さい。</a:t>
            </a:r>
            <a:endParaRPr lang="en-US" sz="1900" dirty="0"/>
          </a:p>
        </p:txBody>
      </p:sp>
      <p:pic>
        <p:nvPicPr>
          <p:cNvPr id="6" name="Image 0" descr="/Users/hjrktng/DEV/ett-oil-temperature-poc/reports/figures/res_mae_by_horiz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45920"/>
            <a:ext cx="11091672" cy="274320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67665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280160"/>
                <a:gridCol w="1280160"/>
                <a:gridCol w="12801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MAE ℃: 持続 / リッジ / LightGBM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時間先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時間先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時間先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 1（ETTh1）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 / 0.46 / 0.42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 / 1.16 / 1.11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 / 1.93 / 1.80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 2（ETTh2）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0.91 / 0.50 / 0.37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4.44 / 2.37 / 1.95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3.19 / 3.26 / 3.17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596128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テスト期間・条件 B。季節ナイーブの 6 時間先 MAE は設備 1 で 1.64 ℃、設備 2 で 3.21 ℃。最良ベースラインは設備 1 が持続予測、設備 2 がリッジ回帰。評価件数は各 5,684〜5,707 時点。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7589520" y="4526280"/>
            <a:ext cx="40507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時間先: 設備 2 は持続予測比 −59%（0.91 → 0.37）。業務上の価値は 1 時間の猶予で可能な対応に依存する。設備 1 は直前値でほぼ足りる</a:t>
            </a:r>
            <a:endParaRPr lang="en-US" sz="11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時間先: 今回比較したモデル・特徴量では、持続予測を明確に上回る改善は確認できなかった（設備 1 は悪化、設備 2 は 3.19 → 3.17）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 2 — 安定性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 2 の 6 時間先の改善は 8 か月すべてで成立した（持続比 28〜64%、リッジ比 3〜28%）。設備 1 は週単位で見ると持続に勝つ週が 54% しかない。</a:t>
            </a:r>
            <a:endParaRPr lang="en-US" sz="1900" dirty="0"/>
          </a:p>
        </p:txBody>
      </p:sp>
      <p:pic>
        <p:nvPicPr>
          <p:cNvPr id="6" name="Image 0" descr="/Users/hjrktng/DEV/ett-oil-temperature-poc/reports/figures/res_error_by_month_hou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45920"/>
            <a:ext cx="11091672" cy="30175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80060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 2: 週単位で 97% の週で持続に、91% の週でリッジに勝つ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 1: 月によって負ける（2018-01 は持続 0.94 ℃に対し 1.26 ℃）。3.7% の改善を安定した効果とは言わない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対象時刻別: 昼〜午後で持続予測の誤差が大きく 14 時で最大（9.5 ℃）。LightGBM との差も 14 時で最大（3.8 ℃）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 3 — 何が効いているか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油温の履歴に時刻・季節を足すと誤差が大きく下がる（設備 2: 2.68 → 1.83 ℃）。起点までの負荷を足しても設備 1 はわずかな改善、設備 2 は悪化した。</a:t>
            </a:r>
            <a:endParaRPr lang="en-US" sz="1900" dirty="0"/>
          </a:p>
        </p:txBody>
      </p:sp>
      <p:pic>
        <p:nvPicPr>
          <p:cNvPr id="6" name="Image 0" descr="/Users/hjrktng/DEV/ett-oil-temperature-poc/reports/figures/res_ablation_h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45920"/>
            <a:ext cx="5852160" cy="2468880"/>
          </a:xfrm>
          <a:prstGeom prst="rect">
            <a:avLst/>
          </a:prstGeom>
        </p:spPr>
      </p:pic>
      <p:pic>
        <p:nvPicPr>
          <p:cNvPr id="7" name="Image 1" descr="/Users/hjrktng/DEV/ett-oil-temperature-poc/reports/figures/res_importance_ETTh2_h6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75120" y="1645920"/>
            <a:ext cx="5029200" cy="306324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51960"/>
          <a:ext cx="58521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1005840"/>
                <a:gridCol w="1188720"/>
                <a:gridCol w="11887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時間先 MAE ℃（テスト）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油温の履歴のみ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＋時刻・季節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＋起点までの負荷（B）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＋対象時刻の負荷（A）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 txBox="1"/>
          <p:nvPr/>
        </p:nvSpPr>
        <p:spPr>
          <a:xfrm>
            <a:off x="6675120" y="480060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主結果の 1.95 ℃は事前に固定した全特徴量（条件 B）の値で、最良の構成を検証で選んだものではない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 2 では検証期間でも負荷なし構成が良かった（1.74 vs 1.78 ℃）。次回はこの構成を候補にし、新しい評価期間で警報性能も確認する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「対象時刻の負荷が既知」という条件 A でも改善は小さい（設備 1 で −2%、設備 2 で悪化）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 4 — 高温の事前検知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 2・6 時間先で、高温 13 区間のうち 10 区間に事前の的中予測があり、通知は約 8 か月で 12 件（誤通知 3 件）。検知した区間の先行時間は平均 4.0 時間だった。</a:t>
            </a:r>
            <a:endParaRPr lang="en-US" sz="1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03504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指標（設備 2・6 時間先・条件 B・閾値 46.4 ℃）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閾値を超えた時点数 / 高温区間（連続した超過 = 1 区間）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 時点 / 13 区間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事前の的中予測があった区間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/ 13（77%）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通知数（連続した事前警報 = 1 通知）／うち誤通知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件（0.05 件/日）／ 3 件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先行時間（検知した区間の平均）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 時間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高温状態を時点単位で当てた割合（参考）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42%（27 / 65）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114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警報のベースライン比較（同じ区間・閾値）</a:t>
            </a:r>
            <a:endParaRPr lang="en-US" sz="11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60350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371600"/>
                <a:gridCol w="146304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手法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検知した区間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通知数／日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誤通知／日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持続予測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季節ナイーブ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/ 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リッジ回帰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/ 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LightGBM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/ 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949440" y="1691640"/>
            <a:ext cx="4690872" cy="4297680"/>
          </a:xfrm>
          <a:prstGeom prst="roundRect">
            <a:avLst>
              <a:gd name="adj" fmla="val 1277"/>
            </a:avLst>
          </a:prstGeom>
          <a:solidFill>
            <a:srgbClr val="F0F1F4"/>
          </a:solidFill>
          <a:ln w="12700">
            <a:solidFill>
              <a:srgbClr val="F0F1F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178040" y="18288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定義と注意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178040" y="2194560"/>
            <a:ext cx="44348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対象は「起点では閾値以下、対象時刻で超える」区間。連続した実測超過は 1 区間、連続した事前警報は 1 通知に集約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先行時間は、検知した各区間について「最初の的中予測を出した起点」から「実際の超過開始」までを測る。集約した通知の開始時刻からではない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的中した通知 9 件と検知した区間 10 件は別の集計単位（1 通知が複数の区間に対応しうる）。誤通知は、発報した起点の 6 時間後の対象時刻で実測が一度も閾値を超えなかった通知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区間は 2018 年 5〜6 月に集中し、同日の再超過を含む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 1 はテスト期間に超過 0 件のため評価保留。上位 10% 点での補助評価は付録 B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 5 — 成功例と失敗例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超過開始の 3 時間前に警報を出せた例がある一方、2 時点だけの短い高温区間は予測が閾値に届かず見逃した。</a:t>
            </a:r>
            <a:endParaRPr lang="en-US" sz="1900" dirty="0"/>
          </a:p>
        </p:txBody>
      </p:sp>
      <p:pic>
        <p:nvPicPr>
          <p:cNvPr id="6" name="Image 0" descr="/Users/hjrktng/DEV/ett-oil-temperature-poc/reports/figures/res_alarm_timeline_detect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00200"/>
            <a:ext cx="6949440" cy="2148840"/>
          </a:xfrm>
          <a:prstGeom prst="rect">
            <a:avLst/>
          </a:prstGeom>
        </p:spPr>
      </p:pic>
      <p:pic>
        <p:nvPicPr>
          <p:cNvPr id="7" name="Image 1" descr="/Users/hjrktng/DEV/ett-oil-temperature-poc/reports/figures/res_alarm_timeline_miss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840480"/>
            <a:ext cx="6949440" cy="21488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0" y="1691640"/>
            <a:ext cx="38679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成功例（5 月 15 日）</a:t>
            </a:r>
            <a:endParaRPr lang="en-US" sz="110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12〜18 時に閾値を超過。最初の的中予測は 9 時起点の 15 時予測で、超過開始の 3 時間前に警報を出せた。ただし 12〜14 時の高温は予測できなかった（6〜8 時起点の予測は 41.5・41.5・46.0 ℃で閾値未満）</a:t>
            </a:r>
            <a:endParaRPr lang="en-US" sz="11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失敗例（6 月 4 日）</a:t>
            </a:r>
            <a:endParaRPr lang="en-US" sz="110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14・15 時の 2 時点で超過（実測 46.5・46.9 ℃）。6 時間前の予測は 40.0・42.5 ℃で、どちらも警報を出せなかった</a:t>
            </a:r>
            <a:endParaRPr lang="en-US" sz="11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含意</a:t>
            </a:r>
            <a:endParaRPr lang="en-US" sz="110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この例では短い高温区間を過小予測した。通知閾値の引き下げで拾える可能性があるが、検知率と誤通知への影響は別途評価する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設計上の判断と限界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予測先ごとの油温差の予測、L1 目的関数、検証期間だけでの選択を採った。24 時間先、未学習設備への汎化、保全効果は今回の範囲では示せない。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40680" cy="4297680"/>
          </a:xfrm>
          <a:prstGeom prst="roundRect">
            <a:avLst>
              <a:gd name="adj" fmla="val 1277"/>
            </a:avLst>
          </a:prstGeom>
          <a:solidFill>
            <a:srgbClr val="E3E7F5"/>
          </a:solidFill>
          <a:ln w="12700">
            <a:solidFill>
              <a:srgbClr val="E3E7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828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判断（理由）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94560"/>
            <a:ext cx="5029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各予測先のモデルで油温差 OT[T] − OT[s] を予測し、現在値 OT[s] に足し戻す — 検証で油温そのものの予測より良かった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将来予測を次の入力に使う再帰方式は採用しない — 誤差の伝播を避ける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目的関数 — MAE を主指標にするため。木モデルの外挿の弱さは明記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特徴量は事前に固定。モデル選択には検証期間を使い、テスト期間の結果で再選択しない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閾値は学習期間で固定し、区間数を必ず併記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99632" y="1691640"/>
            <a:ext cx="5440680" cy="4297680"/>
          </a:xfrm>
          <a:prstGeom prst="roundRect">
            <a:avLst>
              <a:gd name="adj" fmla="val 1277"/>
            </a:avLst>
          </a:prstGeom>
          <a:solidFill>
            <a:srgbClr val="F5EEEC"/>
          </a:solidFill>
          <a:ln w="12700">
            <a:solidFill>
              <a:srgbClr val="F5EE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28232" y="1828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3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限界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28232" y="2194560"/>
            <a:ext cx="5029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時間先は、今回比較したモデル・特徴量では持続予測を明確に上回る改善を確認できなかった。外気温・気象予報の追加は次に検証する候補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 2 台のみ。未学習設備への汎化は未検証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高温区間が 5〜6 月に集中し、閾値は相対値。危険温度での検知は未評価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故障・点検・介入の記録が無く、保全効果は評価できない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短い高温区間を過小予測した例がある（12 ページ）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現場実証に向けて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まず対象設備で 6 時間先予測をシャドー運用し、通知負担と対応可能な先行時間を確認する。24 時間先の改善は別の技術検証として進める。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現場実証に必要なもの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03120"/>
            <a:ext cx="5394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対象設備の毎時の油温・負荷（欠測・遅延の実態込み）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閾値の定義 — 危険温度・運転上限・保全基準のどれか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警報 → 担当者の確認 → 点検・運転調整、の流れと責任者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評価に使える記録 — 点検・介入・異常の履歴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389120"/>
            <a:ext cx="5394960" cy="1554480"/>
          </a:xfrm>
          <a:prstGeom prst="roundRect">
            <a:avLst>
              <a:gd name="adj" fmla="val 3529"/>
            </a:avLst>
          </a:prstGeom>
          <a:solidFill>
            <a:srgbClr val="E3E7F5"/>
          </a:solidFill>
          <a:ln w="12700">
            <a:solidFill>
              <a:srgbClr val="E3E7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5262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実証前に現場と合意すること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8920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必要な最低先行時間、許容できる誤通知数、見逃し時の扱い、評価期間。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技術側の次の一手（優先順）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0" y="2194560"/>
            <a:ext cx="457200" cy="457200"/>
          </a:xfrm>
          <a:prstGeom prst="ellipse">
            <a:avLst/>
          </a:prstGeom>
          <a:solidFill>
            <a:srgbClr val="3F55A8"/>
          </a:solidFill>
          <a:ln w="12700">
            <a:solidFill>
              <a:srgbClr val="3F55A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995160" y="21488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時間先予測のシャドー運用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995160" y="253288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対象設備で通知を出さずに予測を走らせ、通知数・先行時間・誤通知を実データで確認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0" y="3474720"/>
            <a:ext cx="457200" cy="457200"/>
          </a:xfrm>
          <a:prstGeom prst="ellipse">
            <a:avLst/>
          </a:prstGeom>
          <a:solidFill>
            <a:srgbClr val="3F55A8"/>
          </a:solidFill>
          <a:ln w="12700">
            <a:solidFill>
              <a:srgbClr val="3F55A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3429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設備別の再学習と監視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995160" y="381304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再学習の頻度、ドリフトの検知、誤差の時系列監視。通知閾値は許容する通知数から調整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0" y="4754880"/>
            <a:ext cx="457200" cy="457200"/>
          </a:xfrm>
          <a:prstGeom prst="ellipse">
            <a:avLst/>
          </a:prstGeom>
          <a:solidFill>
            <a:srgbClr val="3F55A8"/>
          </a:solidFill>
          <a:ln w="12700">
            <a:solidFill>
              <a:srgbClr val="3F55A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0" y="4754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995160" y="4709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外気温・気象予報の追加（別の技術検証）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995160" y="509320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時間先の改善候補。データ取得の目処と合わせて評価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付録 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特徴量・モデル設定・数表・出典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56692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 特徴量（条件 B。油温・負荷の履歴は予測起点 s 基準、カレンダーは対象時刻 T 基準）</a:t>
            </a:r>
            <a:endParaRPr lang="en-US" sz="11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油温: 現在値、ラグ 1/2/3/6/12/24/48/168h、差分 1h/24h、移動平均・標準偏差・最大・最小（窓 6/24/168h）</a:t>
            </a:r>
            <a:endParaRPr lang="en-US" sz="11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カレンダー: 対象時刻 T の時刻・年内日（sin/cos）、曜日</a:t>
            </a:r>
            <a:endParaRPr lang="en-US" sz="11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負荷 6 種: 現在値、1h 差分、24h 平均（条件 A はさらに対象時刻 T の負荷 6 種）</a:t>
            </a:r>
            <a:endParaRPr lang="en-US" sz="11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 LightGBM</a:t>
            </a:r>
            <a:endParaRPr lang="en-US" sz="11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目的関数、学習率 0.03、葉 31、min_data_in_leaf 50、feature/bagging fraction 0.8、早期終了 100（検証 MAE）、乱数固定</a:t>
            </a:r>
            <a:endParaRPr lang="en-US" sz="11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用語</a:t>
            </a:r>
            <a:endParaRPr lang="en-US" sz="11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予測ホライズン h = 起点から対象時刻までの時間。高温区間 = 連続した実測超過。通知 = 連続した事前警報。時点 = 毎時の観測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1554480"/>
            <a:ext cx="505663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 数表・コード</a:t>
            </a:r>
            <a:endParaRPr lang="en-US" sz="11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reports/results_baselines.md、results_lgbm.md、results_stability.md、results_ablation.csv</a:t>
            </a:r>
            <a:endParaRPr lang="en-US" sz="11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github.com/HJRKTNG/ett-oil-temperature-poc（再現手順は README）</a:t>
            </a:r>
            <a:endParaRPr lang="en-US" sz="11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 出典</a:t>
            </a:r>
            <a:endParaRPr lang="en-US" sz="11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Zhou, H. et al. Informer: Beyond Efficient Transformer for Long Sequence Time-Series Forecasting. AAAI 2021. データ: github.com/zhouhaoyi/ETDataset</a:t>
            </a:r>
            <a:endParaRPr lang="en-US" sz="11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Ke, G. et al. LightGBM: A Highly Efficient Gradient Boosting Decision Tree. NeurIPS 2017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付録 B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補助評価: 上位 10% 点での警報性能と、負荷と油温のラグ相関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 設備 2・6 時間先・条件 B。閾値 = 学習期間の 90 パーセンタイル（43.1 ℃）vs 95（46.4 ℃）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56692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64592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 パーセンタイル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パーセンタイル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超過時点 / 高温区間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 / 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 / 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事前の的中予測があった区間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/ 13（77%）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 / 25（76%）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通知数（／日）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12（0.05）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24（0.10）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誤通知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先行時間（平均）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 時間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 時間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39776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同じ高温定義で通知閾値だけを下げた比較ではない（高温の定義そのものを変えている）。</a:t>
            </a:r>
            <a:endParaRPr lang="en-US" sz="950" dirty="0"/>
          </a:p>
        </p:txBody>
      </p:sp>
      <p:pic>
        <p:nvPicPr>
          <p:cNvPr id="9" name="Image 0" descr="/Users/hjrktng/DEV/ett-oil-temperature-poc/reports/figures/eda_ETTh2_xcor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0" y="1554480"/>
            <a:ext cx="5029200" cy="2651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583680" y="42519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 設備 2: 負荷を先行させた油温との相関（HUFL・MUFL・LUFL の 3 種、ラグ 0〜48h、全期間）。最大絶対値は MUFL のラグ 0 で 0.19。同時刻相関が最大の MULL（0.50）はこの図に含まない。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変圧器油温の先読み PoC</dc:title>
  <dc:subject>PptxGenJS Presentation</dc:subject>
  <dc:creator>Kutsunugi Hijiri</dc:creator>
  <cp:lastModifiedBy>Kutsunugi Hijiri</cp:lastModifiedBy>
  <cp:revision>1</cp:revision>
  <dcterms:created xsi:type="dcterms:W3CDTF">2026-09-17T07:40:32Z</dcterms:created>
  <dcterms:modified xsi:type="dcterms:W3CDTF">2026-09-17T07:40:32Z</dcterms:modified>
</cp:coreProperties>
</file>